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5" r:id="rId12"/>
    <p:sldId id="303" r:id="rId13"/>
    <p:sldId id="294" r:id="rId14"/>
    <p:sldId id="296" r:id="rId15"/>
    <p:sldId id="297" r:id="rId16"/>
    <p:sldId id="298" r:id="rId17"/>
    <p:sldId id="299" r:id="rId18"/>
    <p:sldId id="300" r:id="rId19"/>
    <p:sldId id="304" r:id="rId20"/>
    <p:sldId id="301" r:id="rId21"/>
    <p:sldId id="302" r:id="rId22"/>
    <p:sldId id="305" r:id="rId23"/>
    <p:sldId id="306" r:id="rId24"/>
    <p:sldId id="280" r:id="rId25"/>
    <p:sldId id="281" r:id="rId26"/>
    <p:sldId id="282" r:id="rId27"/>
    <p:sldId id="286" r:id="rId28"/>
    <p:sldId id="283" r:id="rId29"/>
    <p:sldId id="284" r:id="rId30"/>
    <p:sldId id="307" r:id="rId31"/>
  </p:sldIdLst>
  <p:sldSz cx="12192000" cy="6858000"/>
  <p:notesSz cx="6797675" cy="9926638"/>
  <p:custDataLst>
    <p:tags r:id="rId3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апин Вячеслав Александрович ТУ" initials="ЛВАТ" lastIdx="7" clrIdx="0">
    <p:extLst>
      <p:ext uri="{19B8F6BF-5375-455C-9EA6-DF929625EA0E}">
        <p15:presenceInfo xmlns:p15="http://schemas.microsoft.com/office/powerpoint/2012/main" userId="S-1-5-21-2916640784-1408808472-2825091876-1646" providerId="AD"/>
      </p:ext>
    </p:extLst>
  </p:cmAuthor>
  <p:cmAuthor id="2" name="Гурская Татьяна Викторовна" initials="ГТВ" lastIdx="7" clrIdx="1">
    <p:extLst>
      <p:ext uri="{19B8F6BF-5375-455C-9EA6-DF929625EA0E}">
        <p15:presenceInfo xmlns:p15="http://schemas.microsoft.com/office/powerpoint/2012/main" userId="S-1-5-21-2916640784-1408808472-2825091876-29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192B"/>
    <a:srgbClr val="F2F2F2"/>
    <a:srgbClr val="BFBFBF"/>
    <a:srgbClr val="FFFFFF"/>
    <a:srgbClr val="FAF8F6"/>
    <a:srgbClr val="F7F7F7"/>
    <a:srgbClr val="F2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3" autoAdjust="0"/>
    <p:restoredTop sz="96296"/>
  </p:normalViewPr>
  <p:slideViewPr>
    <p:cSldViewPr snapToGrid="0" snapToObjects="1" showGuides="1">
      <p:cViewPr varScale="1">
        <p:scale>
          <a:sx n="159" d="100"/>
          <a:sy n="159" d="100"/>
        </p:scale>
        <p:origin x="834" y="13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28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00FBA-3B4D-594C-9C95-852DB6F34EF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C0842-6D7A-3748-8A63-0F77479CA0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7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14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15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1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7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2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image" Target="../media/image2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2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2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21.png"/><Relationship Id="rId4" Type="http://schemas.openxmlformats.org/officeDocument/2006/relationships/image" Target="../media/image2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2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image" Target="../media/image29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3.png"/><Relationship Id="rId4" Type="http://schemas.openxmlformats.org/officeDocument/2006/relationships/image" Target="../media/image3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3.png"/><Relationship Id="rId4" Type="http://schemas.openxmlformats.org/officeDocument/2006/relationships/image" Target="../media/image3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3.png"/><Relationship Id="rId4" Type="http://schemas.openxmlformats.org/officeDocument/2006/relationships/image" Target="../media/image3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3.png"/><Relationship Id="rId4" Type="http://schemas.openxmlformats.org/officeDocument/2006/relationships/image" Target="../media/image3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5" Type="http://schemas.openxmlformats.org/officeDocument/2006/relationships/image" Target="../media/image3.png"/><Relationship Id="rId4" Type="http://schemas.openxmlformats.org/officeDocument/2006/relationships/image" Target="../media/image3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3.png"/><Relationship Id="rId4" Type="http://schemas.openxmlformats.org/officeDocument/2006/relationships/image" Target="../media/image3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3.png"/><Relationship Id="rId4" Type="http://schemas.openxmlformats.org/officeDocument/2006/relationships/image" Target="../media/image36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3.png"/><Relationship Id="rId4" Type="http://schemas.openxmlformats.org/officeDocument/2006/relationships/image" Target="../media/image3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3.png"/><Relationship Id="rId4" Type="http://schemas.openxmlformats.org/officeDocument/2006/relationships/image" Target="../media/image3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3.png"/><Relationship Id="rId4" Type="http://schemas.openxmlformats.org/officeDocument/2006/relationships/image" Target="../media/image39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3.png"/><Relationship Id="rId4" Type="http://schemas.openxmlformats.org/officeDocument/2006/relationships/image" Target="../media/image40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3.png"/><Relationship Id="rId4" Type="http://schemas.openxmlformats.org/officeDocument/2006/relationships/image" Target="../media/image4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3.png"/><Relationship Id="rId4" Type="http://schemas.openxmlformats.org/officeDocument/2006/relationships/image" Target="../media/image4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>
            <a:extLst>
              <a:ext uri="{FF2B5EF4-FFF2-40B4-BE49-F238E27FC236}">
                <a16:creationId xmlns:a16="http://schemas.microsoft.com/office/drawing/2014/main" id="{C0AA46F0-EFAB-2347-98F5-5E55DE446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1619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332399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{{</a:t>
            </a:r>
            <a:r>
              <a:rPr lang="en-US" dirty="0" err="1"/>
              <a:t>slide_title</a:t>
            </a:r>
            <a:r>
              <a:rPr lang="en-US" dirty="0"/>
              <a:t>}}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BC9D3F86-46AF-B148-81A5-CE22C9BB6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763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slide_notes</a:t>
            </a:r>
            <a:r>
              <a:rPr lang="en-US" dirty="0"/>
              <a:t>}}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AFC488C8-D795-4AF8-8BF7-C919C329C8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6847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slide_content</a:t>
            </a:r>
            <a:r>
              <a:rPr lang="en-US" dirty="0"/>
              <a:t>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58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 с цифр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2E150D18-2735-3F4F-B656-268860013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53443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FDDCCA04-AB36-CA40-8858-3A88A598261D}"/>
              </a:ext>
            </a:extLst>
          </p:cNvPr>
          <p:cNvSpPr/>
          <p:nvPr userDrawn="1"/>
        </p:nvSpPr>
        <p:spPr>
          <a:xfrm>
            <a:off x="183232" y="394708"/>
            <a:ext cx="344262" cy="344262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E2AFA8CC-E203-3B46-8841-08782D6612F8}"/>
              </a:ext>
            </a:extLst>
          </p:cNvPr>
          <p:cNvSpPr/>
          <p:nvPr userDrawn="1"/>
        </p:nvSpPr>
        <p:spPr>
          <a:xfrm>
            <a:off x="0" y="394708"/>
            <a:ext cx="70734" cy="344262"/>
          </a:xfrm>
          <a:custGeom>
            <a:avLst/>
            <a:gdLst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  <a:gd name="connsiteX6" fmla="*/ 0 w 70734"/>
              <a:gd name="connsiteY6" fmla="*/ 0 h 344262"/>
              <a:gd name="connsiteX0" fmla="*/ 0 w 91440"/>
              <a:gd name="connsiteY0" fmla="*/ 0 h 344262"/>
              <a:gd name="connsiteX1" fmla="*/ 13356 w 91440"/>
              <a:gd name="connsiteY1" fmla="*/ 0 h 344262"/>
              <a:gd name="connsiteX2" fmla="*/ 70734 w 91440"/>
              <a:gd name="connsiteY2" fmla="*/ 57378 h 344262"/>
              <a:gd name="connsiteX3" fmla="*/ 70734 w 91440"/>
              <a:gd name="connsiteY3" fmla="*/ 286884 h 344262"/>
              <a:gd name="connsiteX4" fmla="*/ 13356 w 91440"/>
              <a:gd name="connsiteY4" fmla="*/ 344262 h 344262"/>
              <a:gd name="connsiteX5" fmla="*/ 0 w 91440"/>
              <a:gd name="connsiteY5" fmla="*/ 344262 h 344262"/>
              <a:gd name="connsiteX6" fmla="*/ 91440 w 91440"/>
              <a:gd name="connsiteY6" fmla="*/ 91440 h 344262"/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34" h="344262">
                <a:moveTo>
                  <a:pt x="0" y="0"/>
                </a:moveTo>
                <a:lnTo>
                  <a:pt x="13356" y="0"/>
                </a:lnTo>
                <a:cubicBezTo>
                  <a:pt x="45045" y="0"/>
                  <a:pt x="70734" y="25689"/>
                  <a:pt x="70734" y="57378"/>
                </a:cubicBezTo>
                <a:lnTo>
                  <a:pt x="70734" y="286884"/>
                </a:lnTo>
                <a:cubicBezTo>
                  <a:pt x="70734" y="318573"/>
                  <a:pt x="45045" y="344262"/>
                  <a:pt x="13356" y="344262"/>
                </a:cubicBezTo>
                <a:lnTo>
                  <a:pt x="0" y="344262"/>
                </a:ln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74849930-4011-2E4D-B370-37F0F5CD9D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CD0E9984-F526-164F-82E1-D652506C9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232" y="394709"/>
            <a:ext cx="344262" cy="344262"/>
          </a:xfrm>
          <a:noFill/>
        </p:spPr>
        <p:txBody>
          <a:bodyPr lIns="0" tIns="0" rIns="0" bIns="0" anchor="ctr">
            <a:noAutofit/>
          </a:bodyPr>
          <a:lstStyle>
            <a:lvl1pPr marL="0" indent="0" algn="ctr">
              <a:buFontTx/>
              <a:buNone/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8BC89-BBDC-4215-A269-A3D08BC32F6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4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2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331CB090-1FE3-384B-9D86-A7F938FB7D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7273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F31A9401-66B5-EB45-B593-DBE86B2D64EB}"/>
              </a:ext>
            </a:extLst>
          </p:cNvPr>
          <p:cNvGrpSpPr/>
          <p:nvPr userDrawn="1"/>
        </p:nvGrpSpPr>
        <p:grpSpPr>
          <a:xfrm>
            <a:off x="3649466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6EE0B24-B8A3-0548-8081-25AD766E440C}"/>
              </a:ext>
            </a:extLst>
          </p:cNvPr>
          <p:cNvSpPr/>
          <p:nvPr userDrawn="1"/>
        </p:nvSpPr>
        <p:spPr>
          <a:xfrm>
            <a:off x="3867461" y="0"/>
            <a:ext cx="8324539" cy="6858000"/>
          </a:xfrm>
          <a:custGeom>
            <a:avLst/>
            <a:gdLst>
              <a:gd name="connsiteX0" fmla="*/ 0 w 8399490"/>
              <a:gd name="connsiteY0" fmla="*/ 0 h 6858000"/>
              <a:gd name="connsiteX1" fmla="*/ 1312888 w 8399490"/>
              <a:gd name="connsiteY1" fmla="*/ 0 h 6858000"/>
              <a:gd name="connsiteX2" fmla="*/ 7104699 w 8399490"/>
              <a:gd name="connsiteY2" fmla="*/ 0 h 6858000"/>
              <a:gd name="connsiteX3" fmla="*/ 8399490 w 8399490"/>
              <a:gd name="connsiteY3" fmla="*/ 0 h 6858000"/>
              <a:gd name="connsiteX4" fmla="*/ 8399490 w 8399490"/>
              <a:gd name="connsiteY4" fmla="*/ 6858000 h 6858000"/>
              <a:gd name="connsiteX5" fmla="*/ 8399489 w 8399490"/>
              <a:gd name="connsiteY5" fmla="*/ 6858000 h 6858000"/>
              <a:gd name="connsiteX6" fmla="*/ 1312888 w 8399490"/>
              <a:gd name="connsiteY6" fmla="*/ 6858000 h 6858000"/>
              <a:gd name="connsiteX7" fmla="*/ 1294790 w 839949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99490" h="6858000">
                <a:moveTo>
                  <a:pt x="0" y="0"/>
                </a:moveTo>
                <a:lnTo>
                  <a:pt x="1312888" y="0"/>
                </a:lnTo>
                <a:lnTo>
                  <a:pt x="7104699" y="0"/>
                </a:lnTo>
                <a:lnTo>
                  <a:pt x="8399490" y="0"/>
                </a:lnTo>
                <a:lnTo>
                  <a:pt x="8399490" y="6858000"/>
                </a:lnTo>
                <a:lnTo>
                  <a:pt x="8399489" y="6858000"/>
                </a:lnTo>
                <a:lnTo>
                  <a:pt x="1312888" y="6858000"/>
                </a:lnTo>
                <a:lnTo>
                  <a:pt x="1294790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8" name="Заголовок 16">
            <a:extLst>
              <a:ext uri="{FF2B5EF4-FFF2-40B4-BE49-F238E27FC236}">
                <a16:creationId xmlns:a16="http://schemas.microsoft.com/office/drawing/2014/main" id="{4DAFD9ED-F51F-7946-A209-364F853CB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2630329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C251DC40-B978-F64A-9CDE-4F61D94F85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383362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9FF4D68-3FF9-5B44-B685-123DD897E6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EEBFA74-84E0-7045-B360-ADA292591A7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B1F8A37-9FB8-0B48-B9A8-FFF00F4567C8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9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8109D373-A5FC-3145-A72E-19E6093F3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114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A5206CF0-26BD-0740-9F78-3A9C35798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732C1E6C-0422-454C-81E2-52D60891D0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29BA9F8-54A0-E44E-93C7-F7EBC6A7E16F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226128-6444-A446-98BA-DF341CF84B1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77DD2B-E2FC-2E45-8E26-31E358FB9FF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4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D93B0A69-B7D5-5A48-ADC3-AB1A9D78FC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0472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AB1AEA3B-AC4B-E140-9340-6B454EBD0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25578347-EE4A-9C43-90AD-D7FA8D7FE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8040010-421A-6B44-97A4-119E862C416B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3FAD98-8606-774A-A4A8-3920B0033A1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FB1FC0-4632-CE42-883F-35F2AF32BA5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8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B10BD2F5-DFF1-F341-88B5-9F4DB6B58E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7258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0D0FF622-0622-C34A-80BB-EF8A7970B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BBE7582-2D3B-AE4F-B4B8-924A7A1851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DE6E614-9769-B047-B502-A37F9A43E332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F9E8E8-0001-B143-8B76-58D480FDF88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050CC4-9818-2B4B-9B29-EB72E82CD3D9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7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2FEFCD2D-F76E-834A-A99F-E36DD0B636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9995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4035D7B3-4854-5943-9D99-7DC8694E7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33A1594-EA2F-AF4C-A860-A78F7DBA41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7E09A19-A0FF-3D48-BCF1-47225CD7CB2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E705500-A378-A74D-8862-0093F410771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358150-9FBD-C74B-8887-FFB860C2E3BC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0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D53ADF0-C1DC-8E47-A4C4-7F636F65AE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31784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38DBFD21-2ABB-7742-A243-91032BE024AF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38955"/>
                </a:lnTo>
                <a:lnTo>
                  <a:pt x="0" y="9085006"/>
                </a:lnTo>
                <a:close/>
              </a:path>
            </a:pathLst>
          </a:cu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24F3D68-6BA1-3C4E-B14B-2DD63721CC9D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08772EC-E4D1-1547-ADF5-594B1C5CB22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29642E3-0970-7C4E-B9EE-C3273F5463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4E21FC6F-C1D8-BF4D-97D3-976B84D8E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5172B85-A0CD-B24A-BCAB-B123A1C8D0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AA9D97E-1EC3-F048-9CFD-F35F05BBC1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E800E7-478C-864A-B25F-4096900EE6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79BC661-EAD1-CC4D-A34C-194D61B0BA8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4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градиен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61F4C62-7735-054B-B3F9-972F97076C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4407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0CB11AFE-9411-2044-8A46-6AC5FEF2BEAC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0163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56540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56540"/>
                </a:lnTo>
                <a:lnTo>
                  <a:pt x="0" y="9085006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89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87A8BF8-8B64-7345-B8D8-D2B005A404F1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03AA737-7731-5D4B-93E9-8170425CDD10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12E1EB47-C8D5-324D-A43E-748FF75CD00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9BB290FA-0BE0-FF40-A96B-5BE20DC03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8802F073-65C6-D84E-933F-CC5D06A78C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F4F6C43-8A86-D747-AC1B-5F7BD5E807F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CF5145-1BA6-D741-8DAD-6CF2FFCBCFE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E817CBE-2F70-0546-BC57-D869DBF7B28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8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00137109-3779-E74D-A50A-BAD2E6958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71063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83C1CB54-B30C-8443-AF30-7FD7D4FB9756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9E37F7E-C336-9643-AC5D-D0FE6DDD67EF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6C324F41-AF03-884E-8654-6E6664AB8733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12D1BF3-1C93-CE45-8DB2-34E0032C5AC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5CA5854-7C33-0F4E-9038-C1C13F4AB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81D8B47-EB7C-6649-BF93-51455D9DB8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83FD54A-88D9-B845-A3A6-718A291D696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21445E-F72C-C24D-90CE-E133ECE97A0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2B306DE-382D-7849-B66D-0EEE39DFB747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9CBA11B-339F-4343-A51B-93F6F783B1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3554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5D8B76D-246E-4242-9780-F969AA656163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6BCBCD4-687C-B942-A7C2-195FA422A45D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44BEE77A-ECE5-9849-966B-ADB933E20C5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3160A6F8-107F-B64B-9A0D-D4C75BA521F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0CDC513E-0CE6-1F41-8110-6F28BDD1B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D611BEAC-70B9-344B-A434-68FE15195B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FE53861-EA93-B74C-83AD-DDA0FF9DF0D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0D4C207-E31F-0D4F-B51E-43EF9953B4D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036A70-831E-A143-B5D4-B6AB77EC5AF4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85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B73C5764-6228-A64E-8D79-ACA932C1457A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E450DD2-28F5-D947-A104-00BF2053FC43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DBAFEF0B-B938-F747-AA7D-B42D5762CA6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95B84EB3-72B9-E24B-83A0-B4E4F32A624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2D5A29B1-A881-4045-93B2-D4CD3FFCD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4FCF6F75-CDFE-5949-A756-FBF1DFE0E3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BB92506-89F4-1C47-BC01-EF0FC7D21D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EA8BC5-FDA6-2F47-A42D-A1F412C3582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440636-FBEA-9C4A-BD85-538C703A413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06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28AC313-AE0F-7240-97AF-55E3100A0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34430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3E4394A5-8516-5C4F-93B1-59FD8825F990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C4DF46C-98E3-5A40-9CAE-0AA278B874A6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8A8AECCE-0BAB-984D-A823-45462B988A3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099A9C1-5BA1-6246-BE47-2388262AA18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A903A132-9B07-D44A-AFDD-0E7A30FD3C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F716540C-C742-1342-996B-E961D68B10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3C37F96A-3E4F-BA4B-8A1A-82AEC35CA16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6D87D8-A92A-0646-8EF1-4BC826D6A08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3AA01FA-BEAB-E54B-8013-4B0CB49E6A5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1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380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B66BD355-4C68-494D-AEE1-A0EDEC8B03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17201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911070" y="3430278"/>
                </a:lnTo>
                <a:lnTo>
                  <a:pt x="0" y="22866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EF3C153-09A8-9E4A-BBBA-B55EAC5E8C9F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639392A-FFBB-9145-9448-76861653814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F91A37A8-FD0D-A44E-84D1-F8FCE194948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02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стрелка и фото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3418977-67EB-1441-B7C6-146BA8BA78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91071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9997" y="-5014"/>
            <a:ext cx="7331601" cy="686575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53201"/>
              <a:gd name="connsiteY0" fmla="*/ 3590 h 6844239"/>
              <a:gd name="connsiteX1" fmla="*/ 7353201 w 7353201"/>
              <a:gd name="connsiteY1" fmla="*/ 0 h 6844239"/>
              <a:gd name="connsiteX2" fmla="*/ 7353201 w 7353201"/>
              <a:gd name="connsiteY2" fmla="*/ 6844239 h 6844239"/>
              <a:gd name="connsiteX3" fmla="*/ 36000 w 7353201"/>
              <a:gd name="connsiteY3" fmla="*/ 6844239 h 6844239"/>
              <a:gd name="connsiteX4" fmla="*/ 36000 w 7353201"/>
              <a:gd name="connsiteY4" fmla="*/ 6825611 h 6844239"/>
              <a:gd name="connsiteX5" fmla="*/ 947070 w 7353201"/>
              <a:gd name="connsiteY5" fmla="*/ 3430278 h 6844239"/>
              <a:gd name="connsiteX6" fmla="*/ 36000 w 7353201"/>
              <a:gd name="connsiteY6" fmla="*/ 22866 h 6844239"/>
              <a:gd name="connsiteX7" fmla="*/ 0 w 7353201"/>
              <a:gd name="connsiteY7" fmla="*/ 3590 h 6844239"/>
              <a:gd name="connsiteX0" fmla="*/ 0 w 7353201"/>
              <a:gd name="connsiteY0" fmla="*/ 5854 h 6846503"/>
              <a:gd name="connsiteX1" fmla="*/ 7353201 w 7353201"/>
              <a:gd name="connsiteY1" fmla="*/ 2264 h 6846503"/>
              <a:gd name="connsiteX2" fmla="*/ 7353201 w 7353201"/>
              <a:gd name="connsiteY2" fmla="*/ 6846503 h 6846503"/>
              <a:gd name="connsiteX3" fmla="*/ 36000 w 7353201"/>
              <a:gd name="connsiteY3" fmla="*/ 6846503 h 6846503"/>
              <a:gd name="connsiteX4" fmla="*/ 36000 w 7353201"/>
              <a:gd name="connsiteY4" fmla="*/ 6827875 h 6846503"/>
              <a:gd name="connsiteX5" fmla="*/ 947070 w 7353201"/>
              <a:gd name="connsiteY5" fmla="*/ 3432542 h 6846503"/>
              <a:gd name="connsiteX6" fmla="*/ 21600 w 7353201"/>
              <a:gd name="connsiteY6" fmla="*/ 0 h 6846503"/>
              <a:gd name="connsiteX7" fmla="*/ 0 w 7353201"/>
              <a:gd name="connsiteY7" fmla="*/ 5854 h 6846503"/>
              <a:gd name="connsiteX0" fmla="*/ 0 w 7331601"/>
              <a:gd name="connsiteY0" fmla="*/ 5854 h 6846503"/>
              <a:gd name="connsiteX1" fmla="*/ 7331601 w 7331601"/>
              <a:gd name="connsiteY1" fmla="*/ 2264 h 6846503"/>
              <a:gd name="connsiteX2" fmla="*/ 7331601 w 7331601"/>
              <a:gd name="connsiteY2" fmla="*/ 6846503 h 6846503"/>
              <a:gd name="connsiteX3" fmla="*/ 14400 w 7331601"/>
              <a:gd name="connsiteY3" fmla="*/ 6846503 h 6846503"/>
              <a:gd name="connsiteX4" fmla="*/ 14400 w 7331601"/>
              <a:gd name="connsiteY4" fmla="*/ 6827875 h 6846503"/>
              <a:gd name="connsiteX5" fmla="*/ 925470 w 7331601"/>
              <a:gd name="connsiteY5" fmla="*/ 3432542 h 6846503"/>
              <a:gd name="connsiteX6" fmla="*/ 0 w 7331601"/>
              <a:gd name="connsiteY6" fmla="*/ 0 h 6846503"/>
              <a:gd name="connsiteX7" fmla="*/ 0 w 7331601"/>
              <a:gd name="connsiteY7" fmla="*/ 5854 h 684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31601" h="6846503">
                <a:moveTo>
                  <a:pt x="0" y="5854"/>
                </a:moveTo>
                <a:lnTo>
                  <a:pt x="7331601" y="2264"/>
                </a:lnTo>
                <a:lnTo>
                  <a:pt x="7331601" y="6846503"/>
                </a:lnTo>
                <a:lnTo>
                  <a:pt x="14400" y="6846503"/>
                </a:lnTo>
                <a:lnTo>
                  <a:pt x="14400" y="6827875"/>
                </a:lnTo>
                <a:lnTo>
                  <a:pt x="925470" y="3432542"/>
                </a:lnTo>
                <a:lnTo>
                  <a:pt x="0" y="0"/>
                </a:lnTo>
                <a:lnTo>
                  <a:pt x="0" y="5854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vert="horz"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275" y="6426930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59FC77F-66CA-8846-AABE-186F1F472991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418D012-354E-E84A-B2B1-A7E7DDF8171B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3387C35-0704-BE4D-BDDD-73124C1021BF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19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E779BB7-786D-0B4A-8EAD-208A20C6C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5088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Рисунок 3">
            <a:extLst>
              <a:ext uri="{FF2B5EF4-FFF2-40B4-BE49-F238E27FC236}">
                <a16:creationId xmlns:a16="http://schemas.microsoft.com/office/drawing/2014/main" id="{BDF2F980-7605-2C44-92A8-68B22946F9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563144"/>
            <a:ext cx="5254066" cy="1661993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634680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7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C1CC194-74B6-7545-8CD8-7FDA8524B7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71298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Рисунок 3">
            <a:extLst>
              <a:ext uri="{FF2B5EF4-FFF2-40B4-BE49-F238E27FC236}">
                <a16:creationId xmlns:a16="http://schemas.microsoft.com/office/drawing/2014/main" id="{6B28240E-A3EC-6A43-BADC-A2A9ED5B14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436153"/>
            <a:ext cx="5254066" cy="1708354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66954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584678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336896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31378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Заголовок 16">
            <a:extLst>
              <a:ext uri="{FF2B5EF4-FFF2-40B4-BE49-F238E27FC236}">
                <a16:creationId xmlns:a16="http://schemas.microsoft.com/office/drawing/2014/main" id="{226960CC-ABF3-CD45-A9CB-8060B570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064757"/>
            <a:ext cx="771153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B82306DD-6F41-D247-95E0-843412512A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5" y="5128363"/>
            <a:ext cx="7745904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414726B7-1ED0-1544-B549-4C1E2C0417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3A4212F-6126-9942-8871-478C059F4181}"/>
              </a:ext>
            </a:extLst>
          </p:cNvPr>
          <p:cNvGrpSpPr/>
          <p:nvPr userDrawn="1"/>
        </p:nvGrpSpPr>
        <p:grpSpPr>
          <a:xfrm>
            <a:off x="257894" y="3149425"/>
            <a:ext cx="361110" cy="371578"/>
            <a:chOff x="383279" y="3833472"/>
            <a:chExt cx="361110" cy="371578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64E603CC-0647-1245-8FD3-D8996680FD2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3A84CF49-BDC6-D34F-A0B2-5832246D3495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32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0086FB1A-3CCC-2046-8432-813BAFB59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5962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0961D5-807E-F247-9E61-A1A7E3FF9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6679815" y="494919"/>
            <a:ext cx="5072664" cy="48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31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91C3D4F6-7726-1441-A09D-CEAB99ACC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30041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2B23AF0-2BC4-4A4D-B112-24AF4341256D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22" name="Нашивка 21">
              <a:extLst>
                <a:ext uri="{FF2B5EF4-FFF2-40B4-BE49-F238E27FC236}">
                  <a16:creationId xmlns:a16="http://schemas.microsoft.com/office/drawing/2014/main" id="{23D1430A-213A-A944-9098-6D27BE14550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Нашивка 22">
              <a:extLst>
                <a:ext uri="{FF2B5EF4-FFF2-40B4-BE49-F238E27FC236}">
                  <a16:creationId xmlns:a16="http://schemas.microsoft.com/office/drawing/2014/main" id="{55809EBE-656D-FC4F-9EF2-732469A0351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61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AD6CF53-7820-784C-A38B-3C5230C8D6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33691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Текст 4">
            <a:extLst>
              <a:ext uri="{FF2B5EF4-FFF2-40B4-BE49-F238E27FC236}">
                <a16:creationId xmlns:a16="http://schemas.microsoft.com/office/drawing/2014/main" id="{30AFE71A-5FB6-5C40-9034-14FD8517D1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4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2744"/>
            <a:ext cx="7249436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24376" y="3431775"/>
                </a:lnTo>
                <a:lnTo>
                  <a:pt x="0" y="21745"/>
                </a:ln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49040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254362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A212E81-91BF-2B42-BF5F-9AC90E6B8894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3BF1738A-8A92-1244-AA31-5698F47C8405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2" name="Нашивка 31">
              <a:extLst>
                <a:ext uri="{FF2B5EF4-FFF2-40B4-BE49-F238E27FC236}">
                  <a16:creationId xmlns:a16="http://schemas.microsoft.com/office/drawing/2014/main" id="{0B0B06F9-17C3-CE4C-91B9-5DD6284CA4EE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41604F5-8083-F24B-900A-987678A018EA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AE086509-BF3F-2C42-9698-208D65AE9846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500B931A-C255-0D46-8E5C-6A313DB87652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92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стрелк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C9CA3A5-9C66-B444-A2F9-618BFE8D5F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01180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CB56F393-73DB-624A-8FB0-1CD2F3D77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733258"/>
            <a:ext cx="5119944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51982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3104" y="5227309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D590FFB3-8D48-E242-8FE6-15E6CC4F4BAC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25" name="Нашивка 24">
              <a:extLst>
                <a:ext uri="{FF2B5EF4-FFF2-40B4-BE49-F238E27FC236}">
                  <a16:creationId xmlns:a16="http://schemas.microsoft.com/office/drawing/2014/main" id="{A8CE21C9-4736-6E47-B2D3-82A9023A57B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6" name="Нашивка 25">
              <a:extLst>
                <a:ext uri="{FF2B5EF4-FFF2-40B4-BE49-F238E27FC236}">
                  <a16:creationId xmlns:a16="http://schemas.microsoft.com/office/drawing/2014/main" id="{07203397-8F21-4B4F-AC1C-F867ADC109D7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Рисунок 21">
            <a:extLst>
              <a:ext uri="{FF2B5EF4-FFF2-40B4-BE49-F238E27FC236}">
                <a16:creationId xmlns:a16="http://schemas.microsoft.com/office/drawing/2014/main" id="{DF856EB9-ACD9-C44F-A99C-A26731BDB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15253"/>
            <a:ext cx="7259836" cy="6873254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0278 w 7213575"/>
              <a:gd name="connsiteY5" fmla="*/ 3423560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15340 w 7213575"/>
              <a:gd name="connsiteY5" fmla="*/ 3433457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15340" y="3433457"/>
                </a:lnTo>
                <a:cubicBezTo>
                  <a:pt x="608581" y="2299519"/>
                  <a:pt x="306759" y="1155683"/>
                  <a:pt x="0" y="21745"/>
                </a:cubicBez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B62D6-2484-3E43-8288-D3E485BA4A96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52DE0869-8416-BA4A-9164-5F32391EA31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845C46B-DEC4-EA46-950F-0DEE2B3A1E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14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10FA3018-09DA-9046-A283-A744136617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5939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Рисунок 3">
            <a:extLst>
              <a:ext uri="{FF2B5EF4-FFF2-40B4-BE49-F238E27FC236}">
                <a16:creationId xmlns:a16="http://schemas.microsoft.com/office/drawing/2014/main" id="{EAA59F38-4A00-D249-99FC-DF9B2A384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5F6BAC7D-516D-B24C-B12C-D28B883ACB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bg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AA45FD41-ED9B-2F49-A696-74BD5A4C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832125"/>
            <a:ext cx="5277484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2A829139-1830-7D4D-A0FF-A50153AC60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05802"/>
            <a:ext cx="530100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51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ла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9864EF1-02FA-C447-B4C4-82B693316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07546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Рисунок 3">
            <a:extLst>
              <a:ext uri="{FF2B5EF4-FFF2-40B4-BE49-F238E27FC236}">
                <a16:creationId xmlns:a16="http://schemas.microsoft.com/office/drawing/2014/main" id="{50A76EE4-D682-BF43-8DAE-526CC49CB1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E2322C29-2DF1-A041-80A9-F990F758FB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515" y="5456298"/>
            <a:ext cx="530100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Заголовок 16">
            <a:extLst>
              <a:ext uri="{FF2B5EF4-FFF2-40B4-BE49-F238E27FC236}">
                <a16:creationId xmlns:a16="http://schemas.microsoft.com/office/drawing/2014/main" id="{19D1D188-B0FF-6144-9237-0FD677A0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4172597"/>
            <a:ext cx="527748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E6D6720-D0DE-4445-A813-BBF8CA0129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096" y="3028789"/>
            <a:ext cx="4063878" cy="121879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88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98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25735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4">
            <a:extLst>
              <a:ext uri="{FF2B5EF4-FFF2-40B4-BE49-F238E27FC236}">
                <a16:creationId xmlns:a16="http://schemas.microsoft.com/office/drawing/2014/main" id="{0E13A231-B046-1F4B-A36E-3CC5FB7710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DFB5AB00-E3EA-B64E-858C-946031C61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61321"/>
            <a:ext cx="10554971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endParaRPr lang="ru-RU" dirty="0"/>
          </a:p>
        </p:txBody>
      </p:sp>
      <p:sp>
        <p:nvSpPr>
          <p:cNvPr id="15" name="Текст 18">
            <a:extLst>
              <a:ext uri="{FF2B5EF4-FFF2-40B4-BE49-F238E27FC236}">
                <a16:creationId xmlns:a16="http://schemas.microsoft.com/office/drawing/2014/main" id="{9F64DCFC-FC3B-7440-97A3-1C74EC8FB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461594"/>
            <a:ext cx="1060201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AF1FF8-951E-9B4D-96E8-F9535A1B1717}"/>
              </a:ext>
            </a:extLst>
          </p:cNvPr>
          <p:cNvGrpSpPr/>
          <p:nvPr userDrawn="1"/>
        </p:nvGrpSpPr>
        <p:grpSpPr>
          <a:xfrm>
            <a:off x="227165" y="4395174"/>
            <a:ext cx="361110" cy="371578"/>
            <a:chOff x="383279" y="3833472"/>
            <a:chExt cx="361110" cy="371578"/>
          </a:xfrm>
        </p:grpSpPr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C372A10-83C5-DC45-8F47-01EF8DA40D2B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7F5F3CBD-40CD-B34C-92C5-D4244B2DBEC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86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EE458F2-981F-5B4D-AD84-FF20F4593E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75728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D17A70-2D70-8D49-944B-DCA00AE7B8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7720162" y="2598039"/>
            <a:ext cx="4063046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500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32936E7-298E-344F-86EF-0BEB754737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34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B36374A-92E4-084C-AA09-6CFE35648EF5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269A1E4D-FBE3-D747-9ADC-5846C284409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" name="Нашивка 11">
              <a:extLst>
                <a:ext uri="{FF2B5EF4-FFF2-40B4-BE49-F238E27FC236}">
                  <a16:creationId xmlns:a16="http://schemas.microsoft.com/office/drawing/2014/main" id="{E3F5A0E7-C5AF-7747-BCCB-9AAB760EA31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294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85B60A3-FE48-2E49-B5BC-9634550B63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35270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07D7406-D609-3844-9FFD-74697F85981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4C3F334-6B2E-0F46-9A34-5391205468A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243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496EC26-6A0F-704E-807F-0ADDC92EDD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42275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878" y="402822"/>
            <a:ext cx="4763368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4602163" y="1208544"/>
            <a:ext cx="154126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53D1804-0EFE-AB4F-B2DB-B9BB9A8024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602163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28600" indent="-22860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638FCE-C738-8243-9156-EC65C3E1F0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F3B33A8-9A4D-0E45-9A25-1BB082DBFAE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1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A6AF37E-99FD-FC46-BDAD-F5FBCA00C5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18925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FD9F2DAB-4652-2C46-B2B9-DA033A180894}"/>
              </a:ext>
            </a:extLst>
          </p:cNvPr>
          <p:cNvSpPr/>
          <p:nvPr userDrawn="1"/>
        </p:nvSpPr>
        <p:spPr>
          <a:xfrm>
            <a:off x="814782" y="1352890"/>
            <a:ext cx="5474806" cy="4860000"/>
          </a:xfrm>
          <a:custGeom>
            <a:avLst/>
            <a:gdLst>
              <a:gd name="connsiteX0" fmla="*/ 2827536 w 5474806"/>
              <a:gd name="connsiteY0" fmla="*/ 0 h 4867096"/>
              <a:gd name="connsiteX1" fmla="*/ 4627044 w 5474806"/>
              <a:gd name="connsiteY1" fmla="*/ 0 h 4867096"/>
              <a:gd name="connsiteX2" fmla="*/ 5474806 w 5474806"/>
              <a:gd name="connsiteY2" fmla="*/ 2433549 h 4867096"/>
              <a:gd name="connsiteX3" fmla="*/ 4627044 w 5474806"/>
              <a:gd name="connsiteY3" fmla="*/ 4867096 h 4867096"/>
              <a:gd name="connsiteX4" fmla="*/ 4022173 w 5474806"/>
              <a:gd name="connsiteY4" fmla="*/ 4867096 h 4867096"/>
              <a:gd name="connsiteX5" fmla="*/ 2827536 w 5474806"/>
              <a:gd name="connsiteY5" fmla="*/ 4867096 h 4867096"/>
              <a:gd name="connsiteX6" fmla="*/ 654469 w 5474806"/>
              <a:gd name="connsiteY6" fmla="*/ 4867096 h 4867096"/>
              <a:gd name="connsiteX7" fmla="*/ 648540 w 5474806"/>
              <a:gd name="connsiteY7" fmla="*/ 4866307 h 4867096"/>
              <a:gd name="connsiteX8" fmla="*/ 133772 w 5474806"/>
              <a:gd name="connsiteY8" fmla="*/ 4866307 h 4867096"/>
              <a:gd name="connsiteX9" fmla="*/ 0 w 5474806"/>
              <a:gd name="connsiteY9" fmla="*/ 4732535 h 4867096"/>
              <a:gd name="connsiteX10" fmla="*/ 0 w 5474806"/>
              <a:gd name="connsiteY10" fmla="*/ 134562 h 4867096"/>
              <a:gd name="connsiteX11" fmla="*/ 133772 w 5474806"/>
              <a:gd name="connsiteY11" fmla="*/ 790 h 4867096"/>
              <a:gd name="connsiteX12" fmla="*/ 2827536 w 5474806"/>
              <a:gd name="connsiteY12" fmla="*/ 790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74806" h="4867096">
                <a:moveTo>
                  <a:pt x="2827536" y="0"/>
                </a:moveTo>
                <a:lnTo>
                  <a:pt x="4627044" y="0"/>
                </a:lnTo>
                <a:lnTo>
                  <a:pt x="5474806" y="2433549"/>
                </a:lnTo>
                <a:lnTo>
                  <a:pt x="4627044" y="4867096"/>
                </a:lnTo>
                <a:lnTo>
                  <a:pt x="4022173" y="4867096"/>
                </a:lnTo>
                <a:lnTo>
                  <a:pt x="2827536" y="4867096"/>
                </a:lnTo>
                <a:lnTo>
                  <a:pt x="654469" y="4867096"/>
                </a:lnTo>
                <a:lnTo>
                  <a:pt x="648540" y="4866307"/>
                </a:lnTo>
                <a:lnTo>
                  <a:pt x="133772" y="4866307"/>
                </a:lnTo>
                <a:cubicBezTo>
                  <a:pt x="59892" y="4866307"/>
                  <a:pt x="0" y="4806415"/>
                  <a:pt x="0" y="4732535"/>
                </a:cubicBezTo>
                <a:lnTo>
                  <a:pt x="0" y="134562"/>
                </a:lnTo>
                <a:cubicBezTo>
                  <a:pt x="0" y="60682"/>
                  <a:pt x="59892" y="790"/>
                  <a:pt x="133772" y="790"/>
                </a:cubicBezTo>
                <a:lnTo>
                  <a:pt x="2827536" y="790"/>
                </a:lnTo>
                <a:close/>
              </a:path>
            </a:pathLst>
          </a:custGeom>
          <a:solidFill>
            <a:srgbClr val="F7F7F7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CCE6E81-B6E0-B246-8EAB-96ED5E33953B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8CBEEC2-B7F4-3944-8945-A2A1A2919CE6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18A6904-EFD3-6D42-9C54-7AD235004CD4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C8B122AB-132B-6A45-8685-822F9C5231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7611" y="1344613"/>
            <a:ext cx="5786353" cy="4862512"/>
          </a:xfrm>
          <a:custGeom>
            <a:avLst/>
            <a:gdLst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62851 w 5786353"/>
              <a:gd name="connsiteY11" fmla="*/ 2433848 h 4862512"/>
              <a:gd name="connsiteX12" fmla="*/ 0 w 5786353"/>
              <a:gd name="connsiteY12" fmla="*/ 15002 h 4862512"/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52803 w 5786353"/>
              <a:gd name="connsiteY11" fmla="*/ 2423800 h 4862512"/>
              <a:gd name="connsiteX12" fmla="*/ 0 w 5786353"/>
              <a:gd name="connsiteY12" fmla="*/ 15002 h 4862512"/>
              <a:gd name="connsiteX13" fmla="*/ 0 w 5786353"/>
              <a:gd name="connsiteY13" fmla="*/ 0 h 486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86353" h="4862512">
                <a:moveTo>
                  <a:pt x="0" y="0"/>
                </a:moveTo>
                <a:lnTo>
                  <a:pt x="5622301" y="0"/>
                </a:lnTo>
                <a:lnTo>
                  <a:pt x="5686749" y="13011"/>
                </a:lnTo>
                <a:cubicBezTo>
                  <a:pt x="5727636" y="30305"/>
                  <a:pt x="5760391" y="63060"/>
                  <a:pt x="5777685" y="103947"/>
                </a:cubicBezTo>
                <a:lnTo>
                  <a:pt x="5786353" y="146883"/>
                </a:lnTo>
                <a:lnTo>
                  <a:pt x="5786353" y="4717800"/>
                </a:lnTo>
                <a:lnTo>
                  <a:pt x="5777685" y="4760736"/>
                </a:lnTo>
                <a:cubicBezTo>
                  <a:pt x="5760391" y="4801623"/>
                  <a:pt x="5727636" y="4834378"/>
                  <a:pt x="5686749" y="4851672"/>
                </a:cubicBezTo>
                <a:lnTo>
                  <a:pt x="5633055" y="4862512"/>
                </a:lnTo>
                <a:lnTo>
                  <a:pt x="0" y="4862512"/>
                </a:lnTo>
                <a:lnTo>
                  <a:pt x="0" y="4852694"/>
                </a:lnTo>
                <a:lnTo>
                  <a:pt x="952803" y="2423800"/>
                </a:lnTo>
                <a:lnTo>
                  <a:pt x="0" y="15002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CAF1BEF-86D9-9C49-A79A-90437F062B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D71F13D-3902-F649-A58F-7B229C39274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732F6BC-86EB-DC47-8955-70DA404806C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D68EE43A-8859-594C-A127-7DE1B66556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9114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258183B6-84F7-7942-A1E1-D2A8B442AC54}"/>
              </a:ext>
            </a:extLst>
          </p:cNvPr>
          <p:cNvSpPr/>
          <p:nvPr userDrawn="1"/>
        </p:nvSpPr>
        <p:spPr>
          <a:xfrm flipH="1">
            <a:off x="5584053" y="1348813"/>
            <a:ext cx="5804672" cy="4867096"/>
          </a:xfrm>
          <a:custGeom>
            <a:avLst/>
            <a:gdLst>
              <a:gd name="connsiteX0" fmla="*/ 5804672 w 5804672"/>
              <a:gd name="connsiteY0" fmla="*/ 0 h 4867096"/>
              <a:gd name="connsiteX1" fmla="*/ 3575355 w 5804672"/>
              <a:gd name="connsiteY1" fmla="*/ 0 h 4867096"/>
              <a:gd name="connsiteX2" fmla="*/ 3575355 w 5804672"/>
              <a:gd name="connsiteY2" fmla="*/ 790 h 4867096"/>
              <a:gd name="connsiteX3" fmla="*/ 133772 w 5804672"/>
              <a:gd name="connsiteY3" fmla="*/ 790 h 4867096"/>
              <a:gd name="connsiteX4" fmla="*/ 0 w 5804672"/>
              <a:gd name="connsiteY4" fmla="*/ 134562 h 4867096"/>
              <a:gd name="connsiteX5" fmla="*/ 0 w 5804672"/>
              <a:gd name="connsiteY5" fmla="*/ 4732535 h 4867096"/>
              <a:gd name="connsiteX6" fmla="*/ 133772 w 5804672"/>
              <a:gd name="connsiteY6" fmla="*/ 4866307 h 4867096"/>
              <a:gd name="connsiteX7" fmla="*/ 875911 w 5804672"/>
              <a:gd name="connsiteY7" fmla="*/ 4866307 h 4867096"/>
              <a:gd name="connsiteX8" fmla="*/ 883255 w 5804672"/>
              <a:gd name="connsiteY8" fmla="*/ 4867096 h 4867096"/>
              <a:gd name="connsiteX9" fmla="*/ 3575355 w 5804672"/>
              <a:gd name="connsiteY9" fmla="*/ 4867096 h 4867096"/>
              <a:gd name="connsiteX10" fmla="*/ 5055330 w 5804672"/>
              <a:gd name="connsiteY10" fmla="*/ 4867096 h 4867096"/>
              <a:gd name="connsiteX11" fmla="*/ 5804672 w 5804672"/>
              <a:gd name="connsiteY11" fmla="*/ 4867096 h 4867096"/>
              <a:gd name="connsiteX12" fmla="*/ 4961536 w 5804672"/>
              <a:gd name="connsiteY12" fmla="*/ 2436468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04672" h="4867096">
                <a:moveTo>
                  <a:pt x="5804672" y="0"/>
                </a:moveTo>
                <a:lnTo>
                  <a:pt x="3575355" y="0"/>
                </a:lnTo>
                <a:lnTo>
                  <a:pt x="3575355" y="790"/>
                </a:lnTo>
                <a:lnTo>
                  <a:pt x="133772" y="790"/>
                </a:lnTo>
                <a:cubicBezTo>
                  <a:pt x="59892" y="790"/>
                  <a:pt x="0" y="60682"/>
                  <a:pt x="0" y="134562"/>
                </a:cubicBezTo>
                <a:lnTo>
                  <a:pt x="0" y="4732535"/>
                </a:lnTo>
                <a:cubicBezTo>
                  <a:pt x="0" y="4806415"/>
                  <a:pt x="59892" y="4866307"/>
                  <a:pt x="133772" y="4866307"/>
                </a:cubicBezTo>
                <a:lnTo>
                  <a:pt x="875911" y="4866307"/>
                </a:lnTo>
                <a:lnTo>
                  <a:pt x="883255" y="4867096"/>
                </a:lnTo>
                <a:lnTo>
                  <a:pt x="3575355" y="4867096"/>
                </a:lnTo>
                <a:lnTo>
                  <a:pt x="5055330" y="4867096"/>
                </a:lnTo>
                <a:lnTo>
                  <a:pt x="5804672" y="4867096"/>
                </a:lnTo>
                <a:lnTo>
                  <a:pt x="4961536" y="24364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289EDCB9-AE11-5843-8024-4B13C105AA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8907" y="1345076"/>
            <a:ext cx="5490233" cy="4859337"/>
          </a:xfrm>
          <a:custGeom>
            <a:avLst/>
            <a:gdLst>
              <a:gd name="connsiteX0" fmla="*/ 129274 w 5508802"/>
              <a:gd name="connsiteY0" fmla="*/ 0 h 4859337"/>
              <a:gd name="connsiteX1" fmla="*/ 4540653 w 5508802"/>
              <a:gd name="connsiteY1" fmla="*/ 0 h 4859337"/>
              <a:gd name="connsiteX2" fmla="*/ 5501812 w 5508802"/>
              <a:gd name="connsiteY2" fmla="*/ 2420276 h 4859337"/>
              <a:gd name="connsiteX3" fmla="*/ 5506169 w 5508802"/>
              <a:gd name="connsiteY3" fmla="*/ 2426067 h 4859337"/>
              <a:gd name="connsiteX4" fmla="*/ 4532899 w 5508802"/>
              <a:gd name="connsiteY4" fmla="*/ 4859337 h 4859337"/>
              <a:gd name="connsiteX5" fmla="*/ 4532898 w 5508802"/>
              <a:gd name="connsiteY5" fmla="*/ 4859337 h 4859337"/>
              <a:gd name="connsiteX6" fmla="*/ 129277 w 5508802"/>
              <a:gd name="connsiteY6" fmla="*/ 4859337 h 4859337"/>
              <a:gd name="connsiteX7" fmla="*/ 117576 w 5508802"/>
              <a:gd name="connsiteY7" fmla="*/ 4855705 h 4859337"/>
              <a:gd name="connsiteX8" fmla="*/ 15128 w 5508802"/>
              <a:gd name="connsiteY8" fmla="*/ 4753257 h 4859337"/>
              <a:gd name="connsiteX9" fmla="*/ 0 w 5508802"/>
              <a:gd name="connsiteY9" fmla="*/ 4678328 h 4859337"/>
              <a:gd name="connsiteX10" fmla="*/ 0 w 5508802"/>
              <a:gd name="connsiteY10" fmla="*/ 181008 h 4859337"/>
              <a:gd name="connsiteX11" fmla="*/ 15128 w 5508802"/>
              <a:gd name="connsiteY11" fmla="*/ 106080 h 4859337"/>
              <a:gd name="connsiteX12" fmla="*/ 117576 w 5508802"/>
              <a:gd name="connsiteY12" fmla="*/ 3632 h 4859337"/>
              <a:gd name="connsiteX0" fmla="*/ 129274 w 5504144"/>
              <a:gd name="connsiteY0" fmla="*/ 0 h 4859337"/>
              <a:gd name="connsiteX1" fmla="*/ 4540653 w 5504144"/>
              <a:gd name="connsiteY1" fmla="*/ 0 h 4859337"/>
              <a:gd name="connsiteX2" fmla="*/ 5501812 w 5504144"/>
              <a:gd name="connsiteY2" fmla="*/ 2420276 h 4859337"/>
              <a:gd name="connsiteX3" fmla="*/ 5474759 w 5504144"/>
              <a:gd name="connsiteY3" fmla="*/ 2440028 h 4859337"/>
              <a:gd name="connsiteX4" fmla="*/ 4532899 w 5504144"/>
              <a:gd name="connsiteY4" fmla="*/ 4859337 h 4859337"/>
              <a:gd name="connsiteX5" fmla="*/ 4532898 w 5504144"/>
              <a:gd name="connsiteY5" fmla="*/ 4859337 h 4859337"/>
              <a:gd name="connsiteX6" fmla="*/ 129277 w 5504144"/>
              <a:gd name="connsiteY6" fmla="*/ 4859337 h 4859337"/>
              <a:gd name="connsiteX7" fmla="*/ 117576 w 5504144"/>
              <a:gd name="connsiteY7" fmla="*/ 4855705 h 4859337"/>
              <a:gd name="connsiteX8" fmla="*/ 15128 w 5504144"/>
              <a:gd name="connsiteY8" fmla="*/ 4753257 h 4859337"/>
              <a:gd name="connsiteX9" fmla="*/ 0 w 5504144"/>
              <a:gd name="connsiteY9" fmla="*/ 4678328 h 4859337"/>
              <a:gd name="connsiteX10" fmla="*/ 0 w 5504144"/>
              <a:gd name="connsiteY10" fmla="*/ 181008 h 4859337"/>
              <a:gd name="connsiteX11" fmla="*/ 15128 w 5504144"/>
              <a:gd name="connsiteY11" fmla="*/ 106080 h 4859337"/>
              <a:gd name="connsiteX12" fmla="*/ 117576 w 5504144"/>
              <a:gd name="connsiteY12" fmla="*/ 3632 h 4859337"/>
              <a:gd name="connsiteX13" fmla="*/ 129274 w 5504144"/>
              <a:gd name="connsiteY13" fmla="*/ 0 h 4859337"/>
              <a:gd name="connsiteX0" fmla="*/ 129274 w 5488080"/>
              <a:gd name="connsiteY0" fmla="*/ 0 h 4859337"/>
              <a:gd name="connsiteX1" fmla="*/ 4540653 w 5488080"/>
              <a:gd name="connsiteY1" fmla="*/ 0 h 4859337"/>
              <a:gd name="connsiteX2" fmla="*/ 5484362 w 5488080"/>
              <a:gd name="connsiteY2" fmla="*/ 2430747 h 4859337"/>
              <a:gd name="connsiteX3" fmla="*/ 5474759 w 5488080"/>
              <a:gd name="connsiteY3" fmla="*/ 2440028 h 4859337"/>
              <a:gd name="connsiteX4" fmla="*/ 4532899 w 5488080"/>
              <a:gd name="connsiteY4" fmla="*/ 4859337 h 4859337"/>
              <a:gd name="connsiteX5" fmla="*/ 4532898 w 5488080"/>
              <a:gd name="connsiteY5" fmla="*/ 4859337 h 4859337"/>
              <a:gd name="connsiteX6" fmla="*/ 129277 w 5488080"/>
              <a:gd name="connsiteY6" fmla="*/ 4859337 h 4859337"/>
              <a:gd name="connsiteX7" fmla="*/ 117576 w 5488080"/>
              <a:gd name="connsiteY7" fmla="*/ 4855705 h 4859337"/>
              <a:gd name="connsiteX8" fmla="*/ 15128 w 5488080"/>
              <a:gd name="connsiteY8" fmla="*/ 4753257 h 4859337"/>
              <a:gd name="connsiteX9" fmla="*/ 0 w 5488080"/>
              <a:gd name="connsiteY9" fmla="*/ 4678328 h 4859337"/>
              <a:gd name="connsiteX10" fmla="*/ 0 w 5488080"/>
              <a:gd name="connsiteY10" fmla="*/ 181008 h 4859337"/>
              <a:gd name="connsiteX11" fmla="*/ 15128 w 5488080"/>
              <a:gd name="connsiteY11" fmla="*/ 106080 h 4859337"/>
              <a:gd name="connsiteX12" fmla="*/ 117576 w 5488080"/>
              <a:gd name="connsiteY12" fmla="*/ 3632 h 4859337"/>
              <a:gd name="connsiteX13" fmla="*/ 129274 w 5488080"/>
              <a:gd name="connsiteY13" fmla="*/ 0 h 4859337"/>
              <a:gd name="connsiteX0" fmla="*/ 129274 w 5490233"/>
              <a:gd name="connsiteY0" fmla="*/ 0 h 4859337"/>
              <a:gd name="connsiteX1" fmla="*/ 4540653 w 5490233"/>
              <a:gd name="connsiteY1" fmla="*/ 0 h 4859337"/>
              <a:gd name="connsiteX2" fmla="*/ 5484362 w 5490233"/>
              <a:gd name="connsiteY2" fmla="*/ 2430747 h 4859337"/>
              <a:gd name="connsiteX3" fmla="*/ 5485645 w 5490233"/>
              <a:gd name="connsiteY3" fmla="*/ 2429142 h 4859337"/>
              <a:gd name="connsiteX4" fmla="*/ 4532899 w 5490233"/>
              <a:gd name="connsiteY4" fmla="*/ 4859337 h 4859337"/>
              <a:gd name="connsiteX5" fmla="*/ 4532898 w 5490233"/>
              <a:gd name="connsiteY5" fmla="*/ 4859337 h 4859337"/>
              <a:gd name="connsiteX6" fmla="*/ 129277 w 5490233"/>
              <a:gd name="connsiteY6" fmla="*/ 4859337 h 4859337"/>
              <a:gd name="connsiteX7" fmla="*/ 117576 w 5490233"/>
              <a:gd name="connsiteY7" fmla="*/ 4855705 h 4859337"/>
              <a:gd name="connsiteX8" fmla="*/ 15128 w 5490233"/>
              <a:gd name="connsiteY8" fmla="*/ 4753257 h 4859337"/>
              <a:gd name="connsiteX9" fmla="*/ 0 w 5490233"/>
              <a:gd name="connsiteY9" fmla="*/ 4678328 h 4859337"/>
              <a:gd name="connsiteX10" fmla="*/ 0 w 5490233"/>
              <a:gd name="connsiteY10" fmla="*/ 181008 h 4859337"/>
              <a:gd name="connsiteX11" fmla="*/ 15128 w 5490233"/>
              <a:gd name="connsiteY11" fmla="*/ 106080 h 4859337"/>
              <a:gd name="connsiteX12" fmla="*/ 117576 w 5490233"/>
              <a:gd name="connsiteY12" fmla="*/ 3632 h 4859337"/>
              <a:gd name="connsiteX13" fmla="*/ 129274 w 5490233"/>
              <a:gd name="connsiteY13" fmla="*/ 0 h 485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90233" h="4859337">
                <a:moveTo>
                  <a:pt x="129274" y="0"/>
                </a:moveTo>
                <a:lnTo>
                  <a:pt x="4540653" y="0"/>
                </a:lnTo>
                <a:lnTo>
                  <a:pt x="5484362" y="2430747"/>
                </a:lnTo>
                <a:cubicBezTo>
                  <a:pt x="5496398" y="2437969"/>
                  <a:pt x="5486310" y="2425095"/>
                  <a:pt x="5485645" y="2429142"/>
                </a:cubicBezTo>
                <a:lnTo>
                  <a:pt x="4532899" y="4859337"/>
                </a:lnTo>
                <a:lnTo>
                  <a:pt x="4532898" y="4859337"/>
                </a:lnTo>
                <a:lnTo>
                  <a:pt x="129277" y="4859337"/>
                </a:lnTo>
                <a:lnTo>
                  <a:pt x="117576" y="4855705"/>
                </a:lnTo>
                <a:cubicBezTo>
                  <a:pt x="71513" y="4836222"/>
                  <a:pt x="34611" y="4799320"/>
                  <a:pt x="15128" y="4753257"/>
                </a:cubicBezTo>
                <a:lnTo>
                  <a:pt x="0" y="4678328"/>
                </a:lnTo>
                <a:lnTo>
                  <a:pt x="0" y="181008"/>
                </a:lnTo>
                <a:lnTo>
                  <a:pt x="15128" y="106080"/>
                </a:lnTo>
                <a:cubicBezTo>
                  <a:pt x="34611" y="60017"/>
                  <a:pt x="71513" y="23115"/>
                  <a:pt x="117576" y="3632"/>
                </a:cubicBezTo>
                <a:lnTo>
                  <a:pt x="129274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AD748ECC-C982-6B4C-88F1-D9C05250EFC0}"/>
              </a:ext>
            </a:extLst>
          </p:cNvPr>
          <p:cNvSpPr/>
          <p:nvPr userDrawn="1"/>
        </p:nvSpPr>
        <p:spPr>
          <a:xfrm rot="5400000">
            <a:off x="5694996" y="1340698"/>
            <a:ext cx="22608" cy="8371"/>
          </a:xfrm>
          <a:custGeom>
            <a:avLst/>
            <a:gdLst>
              <a:gd name="connsiteX0" fmla="*/ 0 w 22608"/>
              <a:gd name="connsiteY0" fmla="*/ 8371 h 8371"/>
              <a:gd name="connsiteX1" fmla="*/ 22608 w 22608"/>
              <a:gd name="connsiteY1" fmla="*/ 0 h 8371"/>
              <a:gd name="connsiteX2" fmla="*/ 22607 w 22608"/>
              <a:gd name="connsiteY2" fmla="*/ 8371 h 8371"/>
              <a:gd name="connsiteX3" fmla="*/ 0 w 22608"/>
              <a:gd name="connsiteY3" fmla="*/ 8371 h 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08" h="8371">
                <a:moveTo>
                  <a:pt x="0" y="8371"/>
                </a:moveTo>
                <a:lnTo>
                  <a:pt x="22608" y="0"/>
                </a:lnTo>
                <a:lnTo>
                  <a:pt x="22607" y="8371"/>
                </a:lnTo>
                <a:lnTo>
                  <a:pt x="0" y="837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0953E44-28C2-E744-92BB-10A39DACC513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38B57F03-4830-B347-8EA1-C3CC678B2498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3827FF2-80E7-9946-AD79-F575624B378A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2">
            <a:extLst>
              <a:ext uri="{FF2B5EF4-FFF2-40B4-BE49-F238E27FC236}">
                <a16:creationId xmlns:a16="http://schemas.microsoft.com/office/drawing/2014/main" id="{7220B340-E1FC-7443-B4D1-D57F68C877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76C3353-E06F-F540-9C7F-62F548F02E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5414C5-E2C2-EA4F-B02B-9C2BF3C5451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87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F22A351-A906-FD4A-AF17-DF96C1079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90989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54A7A32A-0F62-F54B-B421-C10E8509B7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0738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5" name="Рисунок 4">
            <a:extLst>
              <a:ext uri="{FF2B5EF4-FFF2-40B4-BE49-F238E27FC236}">
                <a16:creationId xmlns:a16="http://schemas.microsoft.com/office/drawing/2014/main" id="{9236F921-8E88-A648-A0FF-AA8DD6FFB8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83286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4605D42A-86C6-474D-8F7F-31E9E7B653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7813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6F7AF065-1B16-014D-99B0-A88CC6A2C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F6C3B32-62C9-1349-81C3-32EEB370FA3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86F741-EC01-3043-B23A-0266623F0C7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02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3AAE98BF-D215-5E4C-A38A-B49101B42C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36945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Рисунок 2">
            <a:extLst>
              <a:ext uri="{FF2B5EF4-FFF2-40B4-BE49-F238E27FC236}">
                <a16:creationId xmlns:a16="http://schemas.microsoft.com/office/drawing/2014/main" id="{F540E14F-28B0-7840-8873-F88D5F76C7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1412" y="-2"/>
            <a:ext cx="6120000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5997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2">
            <a:extLst>
              <a:ext uri="{FF2B5EF4-FFF2-40B4-BE49-F238E27FC236}">
                <a16:creationId xmlns:a16="http://schemas.microsoft.com/office/drawing/2014/main" id="{79793C7B-296A-6240-9792-871DB6E2C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7F431C-1F2A-5E44-BDFA-93A8471B87C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8160324-1822-A64D-A7EF-818FEA4BEA2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AF2A216-EB3B-544B-924F-63FC5DBF51A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76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75A83CC-9EE2-4449-BC43-8F9F3CB865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2644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4068000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49DC0046-C910-434A-88C0-4A37DDB77F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61999" y="0"/>
            <a:ext cx="4089735" cy="6857999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FCEA0CC-0AF1-4846-8714-1F4D2831B3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51734" y="2"/>
            <a:ext cx="4040266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891A38A-68ED-E14B-A600-6C40DAAFC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93F551-2870-DD44-9793-96EA7C5FCAB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14D1FA-E7FA-9849-BC54-2AB688CD9D6B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1529822-1A31-BE48-81E4-338C3E10271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6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F79BFCF-0513-BB43-8C0E-FD98BCB58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71365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072701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7ABE9-7A11-A245-8734-8344564803F6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A729587E-E652-7946-8C92-DDC2AE8285E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48234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9E32ACDA-BAF1-5D42-86D5-F7ED889DBE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3767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01BD0279-8285-1C4E-A108-7937827AD0C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9298" y="-2"/>
            <a:ext cx="3072701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20" name="Текст 2">
            <a:extLst>
              <a:ext uri="{FF2B5EF4-FFF2-40B4-BE49-F238E27FC236}">
                <a16:creationId xmlns:a16="http://schemas.microsoft.com/office/drawing/2014/main" id="{7C5C851D-6422-F84C-9E3B-3DCE985670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1CE91D-6B0B-A646-8A6D-031751374C9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4C12A0-7419-954A-B4A1-6EAA8D2295E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tx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D8E1B5F-2E2C-FA43-A616-018BB629B8E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8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команд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A553710-8EB1-D749-A488-B003541240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5315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Рисунок 13">
            <a:extLst>
              <a:ext uri="{FF2B5EF4-FFF2-40B4-BE49-F238E27FC236}">
                <a16:creationId xmlns:a16="http://schemas.microsoft.com/office/drawing/2014/main" id="{F537E8E3-816C-2544-91F9-4B33037D29C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64343" y="13851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6" name="Рисунок 13">
            <a:extLst>
              <a:ext uri="{FF2B5EF4-FFF2-40B4-BE49-F238E27FC236}">
                <a16:creationId xmlns:a16="http://schemas.microsoft.com/office/drawing/2014/main" id="{97B0A150-AB47-874D-96C9-DE360A01A15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6434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7" name="Рисунок 13">
            <a:extLst>
              <a:ext uri="{FF2B5EF4-FFF2-40B4-BE49-F238E27FC236}">
                <a16:creationId xmlns:a16="http://schemas.microsoft.com/office/drawing/2014/main" id="{B7E6E8E3-1174-144D-B9A7-77104747AE5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6434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8" name="Рисунок 13">
            <a:extLst>
              <a:ext uri="{FF2B5EF4-FFF2-40B4-BE49-F238E27FC236}">
                <a16:creationId xmlns:a16="http://schemas.microsoft.com/office/drawing/2014/main" id="{7BDAB4F6-51C0-F848-9832-591B5C309C46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55411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9" name="Рисунок 13">
            <a:extLst>
              <a:ext uri="{FF2B5EF4-FFF2-40B4-BE49-F238E27FC236}">
                <a16:creationId xmlns:a16="http://schemas.microsoft.com/office/drawing/2014/main" id="{A14C52C0-480A-484F-B424-8467E507D06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4388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0" name="Рисунок 13">
            <a:extLst>
              <a:ext uri="{FF2B5EF4-FFF2-40B4-BE49-F238E27FC236}">
                <a16:creationId xmlns:a16="http://schemas.microsoft.com/office/drawing/2014/main" id="{0272647E-2316-CA4F-9A62-7BCA4D42E7D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5411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1" name="Рисунок 13">
            <a:extLst>
              <a:ext uri="{FF2B5EF4-FFF2-40B4-BE49-F238E27FC236}">
                <a16:creationId xmlns:a16="http://schemas.microsoft.com/office/drawing/2014/main" id="{5974A209-122A-5F41-A13F-25522C1B6E7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24388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2" name="Рисунок 13">
            <a:extLst>
              <a:ext uri="{FF2B5EF4-FFF2-40B4-BE49-F238E27FC236}">
                <a16:creationId xmlns:a16="http://schemas.microsoft.com/office/drawing/2014/main" id="{4E511F35-5BA5-CA45-A4CC-D3C500DE329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55411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3" name="Рисунок 13">
            <a:extLst>
              <a:ext uri="{FF2B5EF4-FFF2-40B4-BE49-F238E27FC236}">
                <a16:creationId xmlns:a16="http://schemas.microsoft.com/office/drawing/2014/main" id="{F73DD4C3-358E-BB40-A4F1-7F39008F69AE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824388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F19BE0CC-9355-3F40-936D-3F8626544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E2307BE-66F3-7D44-9102-6944451447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5AF4710-4919-F146-A8CA-3C89CC5381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758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9CA8D65A-CD26-894A-B070-5C035F2A04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4373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10B0541-1057-CD46-B9A5-6549F4AEE5BD}"/>
              </a:ext>
            </a:extLst>
          </p:cNvPr>
          <p:cNvGrpSpPr/>
          <p:nvPr userDrawn="1"/>
        </p:nvGrpSpPr>
        <p:grpSpPr>
          <a:xfrm>
            <a:off x="3445589" y="1348162"/>
            <a:ext cx="771073" cy="2778654"/>
            <a:chOff x="3445589" y="1348162"/>
            <a:chExt cx="771073" cy="2778654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4B4A7E79-CD9E-8046-B435-F57ACE87C22A}"/>
                </a:ext>
              </a:extLst>
            </p:cNvPr>
            <p:cNvSpPr/>
            <p:nvPr/>
          </p:nvSpPr>
          <p:spPr>
            <a:xfrm>
              <a:off x="3586782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0A198EC9-08B4-7E4D-A5B0-628EE7D8B1FA}"/>
                </a:ext>
              </a:extLst>
            </p:cNvPr>
            <p:cNvSpPr/>
            <p:nvPr/>
          </p:nvSpPr>
          <p:spPr>
            <a:xfrm>
              <a:off x="3445589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7F3CBE2-441C-F245-B292-5E89FE31F7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785" y="1348127"/>
            <a:ext cx="3131741" cy="2771436"/>
          </a:xfrm>
          <a:custGeom>
            <a:avLst/>
            <a:gdLst>
              <a:gd name="connsiteX0" fmla="*/ 115649 w 3131741"/>
              <a:gd name="connsiteY0" fmla="*/ 0 h 2771436"/>
              <a:gd name="connsiteX1" fmla="*/ 2638631 w 3131741"/>
              <a:gd name="connsiteY1" fmla="*/ 0 h 2771436"/>
              <a:gd name="connsiteX2" fmla="*/ 3131741 w 3131741"/>
              <a:gd name="connsiteY2" fmla="*/ 1384518 h 2771436"/>
              <a:gd name="connsiteX3" fmla="*/ 3131741 w 3131741"/>
              <a:gd name="connsiteY3" fmla="*/ 1387483 h 2771436"/>
              <a:gd name="connsiteX4" fmla="*/ 2638832 w 3131741"/>
              <a:gd name="connsiteY4" fmla="*/ 2771436 h 2771436"/>
              <a:gd name="connsiteX5" fmla="*/ 79723 w 3131741"/>
              <a:gd name="connsiteY5" fmla="*/ 2771436 h 2771436"/>
              <a:gd name="connsiteX6" fmla="*/ 70633 w 3131741"/>
              <a:gd name="connsiteY6" fmla="*/ 2769601 h 2771436"/>
              <a:gd name="connsiteX7" fmla="*/ 0 w 3131741"/>
              <a:gd name="connsiteY7" fmla="*/ 2663040 h 2771436"/>
              <a:gd name="connsiteX8" fmla="*/ 0 w 3131741"/>
              <a:gd name="connsiteY8" fmla="*/ 115649 h 2771436"/>
              <a:gd name="connsiteX9" fmla="*/ 115649 w 3131741"/>
              <a:gd name="connsiteY9" fmla="*/ 0 h 2771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1741" h="2771436">
                <a:moveTo>
                  <a:pt x="115649" y="0"/>
                </a:moveTo>
                <a:lnTo>
                  <a:pt x="2638631" y="0"/>
                </a:lnTo>
                <a:lnTo>
                  <a:pt x="3131741" y="1384518"/>
                </a:lnTo>
                <a:lnTo>
                  <a:pt x="3131741" y="1387483"/>
                </a:lnTo>
                <a:lnTo>
                  <a:pt x="2638832" y="2771436"/>
                </a:lnTo>
                <a:lnTo>
                  <a:pt x="79723" y="2771436"/>
                </a:lnTo>
                <a:lnTo>
                  <a:pt x="70633" y="2769601"/>
                </a:lnTo>
                <a:cubicBezTo>
                  <a:pt x="29125" y="2752044"/>
                  <a:pt x="0" y="2710943"/>
                  <a:pt x="0" y="2663040"/>
                </a:cubicBezTo>
                <a:lnTo>
                  <a:pt x="0" y="115649"/>
                </a:lnTo>
                <a:cubicBezTo>
                  <a:pt x="0" y="51778"/>
                  <a:pt x="51778" y="0"/>
                  <a:pt x="115649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F26ABBD4-C954-894B-B2B1-49C9529E2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611A81E-E8D2-9140-8AA6-2A2F8C3391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0147DF-8F69-1B45-822B-2C8CEC604618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995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сширенный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10661A6-6AFF-8544-81FE-15464A7EA4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4570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866C39B-C013-2643-9A19-721E15B83D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93800" y="1724328"/>
            <a:ext cx="1713211" cy="1712611"/>
          </a:xfrm>
          <a:custGeom>
            <a:avLst/>
            <a:gdLst>
              <a:gd name="connsiteX0" fmla="*/ 856606 w 1713211"/>
              <a:gd name="connsiteY0" fmla="*/ 0 h 1712611"/>
              <a:gd name="connsiteX1" fmla="*/ 1708790 w 1713211"/>
              <a:gd name="connsiteY1" fmla="*/ 769023 h 1712611"/>
              <a:gd name="connsiteX2" fmla="*/ 1713211 w 1713211"/>
              <a:gd name="connsiteY2" fmla="*/ 856586 h 1712611"/>
              <a:gd name="connsiteX3" fmla="*/ 1713211 w 1713211"/>
              <a:gd name="connsiteY3" fmla="*/ 856626 h 1712611"/>
              <a:gd name="connsiteX4" fmla="*/ 1708790 w 1713211"/>
              <a:gd name="connsiteY4" fmla="*/ 944189 h 1712611"/>
              <a:gd name="connsiteX5" fmla="*/ 944189 w 1713211"/>
              <a:gd name="connsiteY5" fmla="*/ 1708790 h 1712611"/>
              <a:gd name="connsiteX6" fmla="*/ 868508 w 1713211"/>
              <a:gd name="connsiteY6" fmla="*/ 1712611 h 1712611"/>
              <a:gd name="connsiteX7" fmla="*/ 844704 w 1713211"/>
              <a:gd name="connsiteY7" fmla="*/ 1712611 h 1712611"/>
              <a:gd name="connsiteX8" fmla="*/ 769023 w 1713211"/>
              <a:gd name="connsiteY8" fmla="*/ 1708790 h 1712611"/>
              <a:gd name="connsiteX9" fmla="*/ 0 w 1713211"/>
              <a:gd name="connsiteY9" fmla="*/ 856606 h 1712611"/>
              <a:gd name="connsiteX10" fmla="*/ 856606 w 1713211"/>
              <a:gd name="connsiteY10" fmla="*/ 0 h 171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3211" h="1712611">
                <a:moveTo>
                  <a:pt x="856606" y="0"/>
                </a:moveTo>
                <a:cubicBezTo>
                  <a:pt x="1300128" y="0"/>
                  <a:pt x="1664923" y="337075"/>
                  <a:pt x="1708790" y="769023"/>
                </a:cubicBezTo>
                <a:lnTo>
                  <a:pt x="1713211" y="856586"/>
                </a:lnTo>
                <a:lnTo>
                  <a:pt x="1713211" y="856626"/>
                </a:lnTo>
                <a:lnTo>
                  <a:pt x="1708790" y="944189"/>
                </a:lnTo>
                <a:cubicBezTo>
                  <a:pt x="1667847" y="1347341"/>
                  <a:pt x="1347341" y="1667847"/>
                  <a:pt x="944189" y="1708790"/>
                </a:cubicBezTo>
                <a:lnTo>
                  <a:pt x="868508" y="1712611"/>
                </a:lnTo>
                <a:lnTo>
                  <a:pt x="844704" y="1712611"/>
                </a:lnTo>
                <a:lnTo>
                  <a:pt x="769023" y="1708790"/>
                </a:lnTo>
                <a:cubicBezTo>
                  <a:pt x="337075" y="1664923"/>
                  <a:pt x="0" y="1300128"/>
                  <a:pt x="0" y="856606"/>
                </a:cubicBezTo>
                <a:cubicBezTo>
                  <a:pt x="0" y="383516"/>
                  <a:pt x="383516" y="0"/>
                  <a:pt x="856606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EDE18CFA-4597-C542-BD6A-BB6556226B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63F073C-BF3E-F34E-B467-C7DE312DB4CD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C3422F-D15C-C84F-88C3-7229DD67E0A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305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компан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CABB8F2-733D-7F43-AC63-395A8A1614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67705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27603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1183573" y="3424239"/>
                </a:lnTo>
                <a:lnTo>
                  <a:pt x="0" y="22866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8BAF189-7717-0640-8C8C-ED5E2ED62208}"/>
              </a:ext>
            </a:extLst>
          </p:cNvPr>
          <p:cNvGrpSpPr/>
          <p:nvPr userDrawn="1"/>
        </p:nvGrpSpPr>
        <p:grpSpPr>
          <a:xfrm>
            <a:off x="4612146" y="-3357"/>
            <a:ext cx="1442729" cy="6876000"/>
            <a:chOff x="3106995" y="0"/>
            <a:chExt cx="1442729" cy="6858000"/>
          </a:xfrm>
        </p:grpSpPr>
        <p:sp>
          <p:nvSpPr>
            <p:cNvPr id="10" name="Нашивка 9">
              <a:extLst>
                <a:ext uri="{FF2B5EF4-FFF2-40B4-BE49-F238E27FC236}">
                  <a16:creationId xmlns:a16="http://schemas.microsoft.com/office/drawing/2014/main" id="{AF822873-8C8D-1043-BA6F-04B9699CC2D6}"/>
                </a:ext>
              </a:extLst>
            </p:cNvPr>
            <p:cNvSpPr/>
            <p:nvPr userDrawn="1"/>
          </p:nvSpPr>
          <p:spPr>
            <a:xfrm>
              <a:off x="3106995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953148FE-FF88-A245-8A8A-48BDA4067A84}"/>
                </a:ext>
              </a:extLst>
            </p:cNvPr>
            <p:cNvSpPr/>
            <p:nvPr userDrawn="1"/>
          </p:nvSpPr>
          <p:spPr>
            <a:xfrm>
              <a:off x="3234621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F1C14830-24AB-4749-BC5F-7A646C87A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3803239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A790474-46FC-9941-AE33-0D3A2D0224A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2C322BA2-087E-0745-A341-7E93A885438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EEB85F-5429-D048-AD72-EFBE1D8A2DF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F595A2B-72A1-E347-9CA0-14DD22536CC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C5022CC-AF62-FF4A-B915-BCD69BA9459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589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 аудитори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6864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038BD53-8F25-5D40-9289-9C57CC794676}"/>
              </a:ext>
            </a:extLst>
          </p:cNvPr>
          <p:cNvSpPr txBox="1"/>
          <p:nvPr userDrawn="1"/>
        </p:nvSpPr>
        <p:spPr>
          <a:xfrm>
            <a:off x="340191" y="-392985"/>
            <a:ext cx="4493538" cy="8556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3000" b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?</a:t>
            </a:r>
            <a:endParaRPr lang="ru-RU" sz="53000" b="1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854FB96-6482-7040-AEC9-31343493737F}"/>
              </a:ext>
            </a:extLst>
          </p:cNvPr>
          <p:cNvGrpSpPr/>
          <p:nvPr userDrawn="1"/>
        </p:nvGrpSpPr>
        <p:grpSpPr>
          <a:xfrm>
            <a:off x="227165" y="3801795"/>
            <a:ext cx="361110" cy="371578"/>
            <a:chOff x="383279" y="3833472"/>
            <a:chExt cx="361110" cy="371578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4505EE8C-FEC0-2C41-972F-9B231977F75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284537A5-A020-3B46-96F7-D48FB25F265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Текст 4">
            <a:extLst>
              <a:ext uri="{FF2B5EF4-FFF2-40B4-BE49-F238E27FC236}">
                <a16:creationId xmlns:a16="http://schemas.microsoft.com/office/drawing/2014/main" id="{D19FA497-049D-C040-99F2-FE82689E4C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3275" y="4358993"/>
            <a:ext cx="8323263" cy="1841782"/>
          </a:xfr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50AAAD90-B1BF-E248-AE25-D0D473D138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3620806"/>
            <a:ext cx="8323263" cy="738188"/>
          </a:xfrm>
        </p:spPr>
        <p:txBody>
          <a:bodyPr lIns="0" tIns="0" rIns="0" bIns="0" anchor="ctr"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060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ведем итог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7470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3485A6-5304-D840-B8BB-5B8A3C47D176}"/>
              </a:ext>
            </a:extLst>
          </p:cNvPr>
          <p:cNvSpPr txBox="1"/>
          <p:nvPr userDrawn="1"/>
        </p:nvSpPr>
        <p:spPr>
          <a:xfrm>
            <a:off x="9126538" y="-392985"/>
            <a:ext cx="2448106" cy="8248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3000" b="1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2C8AA36-B22B-AE43-B38E-09068C80391A}"/>
              </a:ext>
            </a:extLst>
          </p:cNvPr>
          <p:cNvGrpSpPr/>
          <p:nvPr userDrawn="1"/>
        </p:nvGrpSpPr>
        <p:grpSpPr>
          <a:xfrm>
            <a:off x="227165" y="1353092"/>
            <a:ext cx="361110" cy="371578"/>
            <a:chOff x="383279" y="3833472"/>
            <a:chExt cx="361110" cy="371578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72F3EBDB-5783-E445-AFD7-0024F7012003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E2822CAD-EADF-BF4C-8DC3-8D9F65968E4F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17">
            <a:extLst>
              <a:ext uri="{FF2B5EF4-FFF2-40B4-BE49-F238E27FC236}">
                <a16:creationId xmlns:a16="http://schemas.microsoft.com/office/drawing/2014/main" id="{EC8B8A80-E4D6-6242-B68B-0BFB25E1BC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1319598"/>
            <a:ext cx="8323263" cy="443198"/>
          </a:xfrm>
        </p:spPr>
        <p:txBody>
          <a:bodyPr lIns="0" tIns="0" rIns="0" bIns="0" anchor="ctr">
            <a:sp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Подведем итоги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041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оро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2F44F8C-947C-1644-A927-26E4B6403B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8129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435A7BF7-A0FA-AA42-AC3A-05BE8E91E4EB}"/>
              </a:ext>
            </a:extLst>
          </p:cNvPr>
          <p:cNvSpPr/>
          <p:nvPr userDrawn="1"/>
        </p:nvSpPr>
        <p:spPr>
          <a:xfrm>
            <a:off x="-1" y="2108516"/>
            <a:ext cx="6460790" cy="4756444"/>
          </a:xfrm>
          <a:custGeom>
            <a:avLst/>
            <a:gdLst>
              <a:gd name="connsiteX0" fmla="*/ 1364852 w 6460790"/>
              <a:gd name="connsiteY0" fmla="*/ 0 h 4756444"/>
              <a:gd name="connsiteX1" fmla="*/ 2305876 w 6460790"/>
              <a:gd name="connsiteY1" fmla="*/ 500338 h 4756444"/>
              <a:gd name="connsiteX2" fmla="*/ 2317966 w 6460790"/>
              <a:gd name="connsiteY2" fmla="*/ 522612 h 4756444"/>
              <a:gd name="connsiteX3" fmla="*/ 2334528 w 6460790"/>
              <a:gd name="connsiteY3" fmla="*/ 469258 h 4756444"/>
              <a:gd name="connsiteX4" fmla="*/ 2779103 w 6460790"/>
              <a:gd name="connsiteY4" fmla="*/ 174573 h 4756444"/>
              <a:gd name="connsiteX5" fmla="*/ 3251793 w 6460790"/>
              <a:gd name="connsiteY5" fmla="*/ 559826 h 4756444"/>
              <a:gd name="connsiteX6" fmla="*/ 3256247 w 6460790"/>
              <a:gd name="connsiteY6" fmla="*/ 604013 h 4756444"/>
              <a:gd name="connsiteX7" fmla="*/ 3328199 w 6460790"/>
              <a:gd name="connsiteY7" fmla="*/ 577678 h 4756444"/>
              <a:gd name="connsiteX8" fmla="*/ 3585139 w 6460790"/>
              <a:gd name="connsiteY8" fmla="*/ 538832 h 4756444"/>
              <a:gd name="connsiteX9" fmla="*/ 4449183 w 6460790"/>
              <a:gd name="connsiteY9" fmla="*/ 1402876 h 4756444"/>
              <a:gd name="connsiteX10" fmla="*/ 4434754 w 6460790"/>
              <a:gd name="connsiteY10" fmla="*/ 1546011 h 4756444"/>
              <a:gd name="connsiteX11" fmla="*/ 4468094 w 6460790"/>
              <a:gd name="connsiteY11" fmla="*/ 1523927 h 4756444"/>
              <a:gd name="connsiteX12" fmla="*/ 4870315 w 6460790"/>
              <a:gd name="connsiteY12" fmla="*/ 1416867 h 4756444"/>
              <a:gd name="connsiteX13" fmla="*/ 5678383 w 6460790"/>
              <a:gd name="connsiteY13" fmla="*/ 2224935 h 4756444"/>
              <a:gd name="connsiteX14" fmla="*/ 5673958 w 6460790"/>
              <a:gd name="connsiteY14" fmla="*/ 2268836 h 4756444"/>
              <a:gd name="connsiteX15" fmla="*/ 5799483 w 6460790"/>
              <a:gd name="connsiteY15" fmla="*/ 2256182 h 4756444"/>
              <a:gd name="connsiteX16" fmla="*/ 6460790 w 6460790"/>
              <a:gd name="connsiteY16" fmla="*/ 2917489 h 4756444"/>
              <a:gd name="connsiteX17" fmla="*/ 6056894 w 6460790"/>
              <a:gd name="connsiteY17" fmla="*/ 3526828 h 4756444"/>
              <a:gd name="connsiteX18" fmla="*/ 5941507 w 6460790"/>
              <a:gd name="connsiteY18" fmla="*/ 3562646 h 4756444"/>
              <a:gd name="connsiteX19" fmla="*/ 5945079 w 6460790"/>
              <a:gd name="connsiteY19" fmla="*/ 3643478 h 4756444"/>
              <a:gd name="connsiteX20" fmla="*/ 5497696 w 6460790"/>
              <a:gd name="connsiteY20" fmla="*/ 4723556 h 4756444"/>
              <a:gd name="connsiteX21" fmla="*/ 5461510 w 6460790"/>
              <a:gd name="connsiteY21" fmla="*/ 4756444 h 4756444"/>
              <a:gd name="connsiteX22" fmla="*/ 3373726 w 6460790"/>
              <a:gd name="connsiteY22" fmla="*/ 4756444 h 4756444"/>
              <a:gd name="connsiteX23" fmla="*/ 3337540 w 6460790"/>
              <a:gd name="connsiteY23" fmla="*/ 4723556 h 4756444"/>
              <a:gd name="connsiteX24" fmla="*/ 3300218 w 6460790"/>
              <a:gd name="connsiteY24" fmla="*/ 4682491 h 4756444"/>
              <a:gd name="connsiteX25" fmla="*/ 3214236 w 6460790"/>
              <a:gd name="connsiteY25" fmla="*/ 4746788 h 4756444"/>
              <a:gd name="connsiteX26" fmla="*/ 3197436 w 6460790"/>
              <a:gd name="connsiteY26" fmla="*/ 4756444 h 4756444"/>
              <a:gd name="connsiteX27" fmla="*/ 0 w 6460790"/>
              <a:gd name="connsiteY27" fmla="*/ 4756444 h 4756444"/>
              <a:gd name="connsiteX28" fmla="*/ 0 w 6460790"/>
              <a:gd name="connsiteY28" fmla="*/ 788938 h 4756444"/>
              <a:gd name="connsiteX29" fmla="*/ 47629 w 6460790"/>
              <a:gd name="connsiteY29" fmla="*/ 781669 h 4756444"/>
              <a:gd name="connsiteX30" fmla="*/ 138597 w 6460790"/>
              <a:gd name="connsiteY30" fmla="*/ 777075 h 4756444"/>
              <a:gd name="connsiteX31" fmla="*/ 274091 w 6460790"/>
              <a:gd name="connsiteY31" fmla="*/ 787327 h 4756444"/>
              <a:gd name="connsiteX32" fmla="*/ 283886 w 6460790"/>
              <a:gd name="connsiteY32" fmla="*/ 789584 h 4756444"/>
              <a:gd name="connsiteX33" fmla="*/ 319197 w 6460790"/>
              <a:gd name="connsiteY33" fmla="*/ 693107 h 4756444"/>
              <a:gd name="connsiteX34" fmla="*/ 1364852 w 6460790"/>
              <a:gd name="connsiteY34" fmla="*/ 0 h 4756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460790" h="4756444">
                <a:moveTo>
                  <a:pt x="1364852" y="0"/>
                </a:moveTo>
                <a:cubicBezTo>
                  <a:pt x="1756573" y="0"/>
                  <a:pt x="2101938" y="198470"/>
                  <a:pt x="2305876" y="500338"/>
                </a:cubicBezTo>
                <a:lnTo>
                  <a:pt x="2317966" y="522612"/>
                </a:lnTo>
                <a:lnTo>
                  <a:pt x="2334528" y="469258"/>
                </a:lnTo>
                <a:cubicBezTo>
                  <a:pt x="2407774" y="296084"/>
                  <a:pt x="2579248" y="174573"/>
                  <a:pt x="2779103" y="174573"/>
                </a:cubicBezTo>
                <a:cubicBezTo>
                  <a:pt x="3012267" y="174573"/>
                  <a:pt x="3206802" y="339963"/>
                  <a:pt x="3251793" y="559826"/>
                </a:cubicBezTo>
                <a:lnTo>
                  <a:pt x="3256247" y="604013"/>
                </a:lnTo>
                <a:lnTo>
                  <a:pt x="3328199" y="577678"/>
                </a:lnTo>
                <a:cubicBezTo>
                  <a:pt x="3409366" y="552432"/>
                  <a:pt x="3495665" y="538832"/>
                  <a:pt x="3585139" y="538832"/>
                </a:cubicBezTo>
                <a:cubicBezTo>
                  <a:pt x="4062337" y="538832"/>
                  <a:pt x="4449183" y="925678"/>
                  <a:pt x="4449183" y="1402876"/>
                </a:cubicBezTo>
                <a:lnTo>
                  <a:pt x="4434754" y="1546011"/>
                </a:lnTo>
                <a:lnTo>
                  <a:pt x="4468094" y="1523927"/>
                </a:lnTo>
                <a:cubicBezTo>
                  <a:pt x="4586539" y="1455819"/>
                  <a:pt x="4723878" y="1416867"/>
                  <a:pt x="4870315" y="1416867"/>
                </a:cubicBezTo>
                <a:cubicBezTo>
                  <a:pt x="5316599" y="1416867"/>
                  <a:pt x="5678383" y="1778651"/>
                  <a:pt x="5678383" y="2224935"/>
                </a:cubicBezTo>
                <a:lnTo>
                  <a:pt x="5673958" y="2268836"/>
                </a:lnTo>
                <a:lnTo>
                  <a:pt x="5799483" y="2256182"/>
                </a:lnTo>
                <a:cubicBezTo>
                  <a:pt x="6164713" y="2256182"/>
                  <a:pt x="6460790" y="2552259"/>
                  <a:pt x="6460790" y="2917489"/>
                </a:cubicBezTo>
                <a:cubicBezTo>
                  <a:pt x="6460790" y="3191412"/>
                  <a:pt x="6294247" y="3426436"/>
                  <a:pt x="6056894" y="3526828"/>
                </a:cubicBezTo>
                <a:lnTo>
                  <a:pt x="5941507" y="3562646"/>
                </a:lnTo>
                <a:lnTo>
                  <a:pt x="5945079" y="3643478"/>
                </a:lnTo>
                <a:cubicBezTo>
                  <a:pt x="5945079" y="4065275"/>
                  <a:pt x="5774112" y="4447140"/>
                  <a:pt x="5497696" y="4723556"/>
                </a:cubicBezTo>
                <a:lnTo>
                  <a:pt x="5461510" y="4756444"/>
                </a:lnTo>
                <a:lnTo>
                  <a:pt x="3373726" y="4756444"/>
                </a:lnTo>
                <a:lnTo>
                  <a:pt x="3337540" y="4723556"/>
                </a:lnTo>
                <a:lnTo>
                  <a:pt x="3300218" y="4682491"/>
                </a:lnTo>
                <a:lnTo>
                  <a:pt x="3214236" y="4746788"/>
                </a:lnTo>
                <a:lnTo>
                  <a:pt x="3197436" y="4756444"/>
                </a:lnTo>
                <a:lnTo>
                  <a:pt x="0" y="4756444"/>
                </a:lnTo>
                <a:lnTo>
                  <a:pt x="0" y="788938"/>
                </a:lnTo>
                <a:lnTo>
                  <a:pt x="47629" y="781669"/>
                </a:lnTo>
                <a:cubicBezTo>
                  <a:pt x="77539" y="778631"/>
                  <a:pt x="107886" y="777075"/>
                  <a:pt x="138597" y="777075"/>
                </a:cubicBezTo>
                <a:cubicBezTo>
                  <a:pt x="184663" y="777075"/>
                  <a:pt x="229912" y="780576"/>
                  <a:pt x="274091" y="787327"/>
                </a:cubicBezTo>
                <a:lnTo>
                  <a:pt x="283886" y="789584"/>
                </a:lnTo>
                <a:lnTo>
                  <a:pt x="319197" y="693107"/>
                </a:lnTo>
                <a:cubicBezTo>
                  <a:pt x="491474" y="285797"/>
                  <a:pt x="894787" y="0"/>
                  <a:pt x="13648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02AD1-766A-DE45-9A3D-BBC3CBD18CC0}"/>
              </a:ext>
            </a:extLst>
          </p:cNvPr>
          <p:cNvSpPr txBox="1"/>
          <p:nvPr userDrawn="1"/>
        </p:nvSpPr>
        <p:spPr>
          <a:xfrm>
            <a:off x="9388251" y="192063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9B9762A-D661-004B-AA68-25A2ABE391B5}"/>
              </a:ext>
            </a:extLst>
          </p:cNvPr>
          <p:cNvGrpSpPr/>
          <p:nvPr userDrawn="1"/>
        </p:nvGrpSpPr>
        <p:grpSpPr>
          <a:xfrm>
            <a:off x="2743200" y="3128963"/>
            <a:ext cx="9458325" cy="3771902"/>
            <a:chOff x="2743200" y="3128963"/>
            <a:chExt cx="9458325" cy="3771902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245F897D-F2E4-AE4F-AB0A-7347E2F985FF}"/>
                </a:ext>
              </a:extLst>
            </p:cNvPr>
            <p:cNvSpPr/>
            <p:nvPr/>
          </p:nvSpPr>
          <p:spPr>
            <a:xfrm>
              <a:off x="2786063" y="3128963"/>
              <a:ext cx="9415462" cy="3743325"/>
            </a:xfrm>
            <a:custGeom>
              <a:avLst/>
              <a:gdLst>
                <a:gd name="connsiteX0" fmla="*/ 0 w 9415462"/>
                <a:gd name="connsiteY0" fmla="*/ 3743325 h 3743325"/>
                <a:gd name="connsiteX1" fmla="*/ 1557337 w 9415462"/>
                <a:gd name="connsiteY1" fmla="*/ 2386012 h 3743325"/>
                <a:gd name="connsiteX2" fmla="*/ 2128837 w 9415462"/>
                <a:gd name="connsiteY2" fmla="*/ 2686050 h 3743325"/>
                <a:gd name="connsiteX3" fmla="*/ 3629025 w 9415462"/>
                <a:gd name="connsiteY3" fmla="*/ 957262 h 3743325"/>
                <a:gd name="connsiteX4" fmla="*/ 4300537 w 9415462"/>
                <a:gd name="connsiteY4" fmla="*/ 1600200 h 3743325"/>
                <a:gd name="connsiteX5" fmla="*/ 5715000 w 9415462"/>
                <a:gd name="connsiteY5" fmla="*/ 0 h 3743325"/>
                <a:gd name="connsiteX6" fmla="*/ 7100887 w 9415462"/>
                <a:gd name="connsiteY6" fmla="*/ 1243012 h 3743325"/>
                <a:gd name="connsiteX7" fmla="*/ 8258175 w 9415462"/>
                <a:gd name="connsiteY7" fmla="*/ 1042987 h 3743325"/>
                <a:gd name="connsiteX8" fmla="*/ 9172575 w 9415462"/>
                <a:gd name="connsiteY8" fmla="*/ 1671637 h 3743325"/>
                <a:gd name="connsiteX9" fmla="*/ 9401175 w 9415462"/>
                <a:gd name="connsiteY9" fmla="*/ 1585912 h 3743325"/>
                <a:gd name="connsiteX10" fmla="*/ 9415462 w 9415462"/>
                <a:gd name="connsiteY10" fmla="*/ 3743325 h 3743325"/>
                <a:gd name="connsiteX11" fmla="*/ 0 w 9415462"/>
                <a:gd name="connsiteY11" fmla="*/ 3743325 h 374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5462" h="3743325">
                  <a:moveTo>
                    <a:pt x="0" y="3743325"/>
                  </a:moveTo>
                  <a:lnTo>
                    <a:pt x="1557337" y="2386012"/>
                  </a:lnTo>
                  <a:lnTo>
                    <a:pt x="2128837" y="2686050"/>
                  </a:lnTo>
                  <a:lnTo>
                    <a:pt x="3629025" y="957262"/>
                  </a:lnTo>
                  <a:lnTo>
                    <a:pt x="4300537" y="1600200"/>
                  </a:lnTo>
                  <a:lnTo>
                    <a:pt x="5715000" y="0"/>
                  </a:lnTo>
                  <a:lnTo>
                    <a:pt x="7100887" y="1243012"/>
                  </a:lnTo>
                  <a:lnTo>
                    <a:pt x="8258175" y="1042987"/>
                  </a:lnTo>
                  <a:lnTo>
                    <a:pt x="9172575" y="1671637"/>
                  </a:lnTo>
                  <a:lnTo>
                    <a:pt x="9401175" y="1585912"/>
                  </a:lnTo>
                  <a:cubicBezTo>
                    <a:pt x="9405937" y="2305050"/>
                    <a:pt x="9410700" y="3024187"/>
                    <a:pt x="9415462" y="3743325"/>
                  </a:cubicBezTo>
                  <a:lnTo>
                    <a:pt x="0" y="3743325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32C7D0-36EF-DE49-A525-8E4F0D44B3BD}"/>
                </a:ext>
              </a:extLst>
            </p:cNvPr>
            <p:cNvSpPr/>
            <p:nvPr/>
          </p:nvSpPr>
          <p:spPr>
            <a:xfrm>
              <a:off x="4347396" y="5523567"/>
              <a:ext cx="567770" cy="865510"/>
            </a:xfrm>
            <a:custGeom>
              <a:avLst/>
              <a:gdLst>
                <a:gd name="connsiteX0" fmla="*/ 0 w 521677"/>
                <a:gd name="connsiteY0" fmla="*/ 0 h 849923"/>
                <a:gd name="connsiteX1" fmla="*/ 263769 w 521677"/>
                <a:gd name="connsiteY1" fmla="*/ 310661 h 849923"/>
                <a:gd name="connsiteX2" fmla="*/ 23446 w 521677"/>
                <a:gd name="connsiteY2" fmla="*/ 398584 h 849923"/>
                <a:gd name="connsiteX3" fmla="*/ 263769 w 521677"/>
                <a:gd name="connsiteY3" fmla="*/ 849923 h 849923"/>
                <a:gd name="connsiteX4" fmla="*/ 304800 w 521677"/>
                <a:gd name="connsiteY4" fmla="*/ 492369 h 849923"/>
                <a:gd name="connsiteX5" fmla="*/ 521677 w 521677"/>
                <a:gd name="connsiteY5" fmla="*/ 416169 h 849923"/>
                <a:gd name="connsiteX6" fmla="*/ 515816 w 521677"/>
                <a:gd name="connsiteY6" fmla="*/ 252046 h 849923"/>
                <a:gd name="connsiteX7" fmla="*/ 0 w 521677"/>
                <a:gd name="connsiteY7" fmla="*/ 0 h 849923"/>
                <a:gd name="connsiteX0" fmla="*/ 0 w 536597"/>
                <a:gd name="connsiteY0" fmla="*/ 0 h 849923"/>
                <a:gd name="connsiteX1" fmla="*/ 263769 w 536597"/>
                <a:gd name="connsiteY1" fmla="*/ 310661 h 849923"/>
                <a:gd name="connsiteX2" fmla="*/ 23446 w 536597"/>
                <a:gd name="connsiteY2" fmla="*/ 398584 h 849923"/>
                <a:gd name="connsiteX3" fmla="*/ 263769 w 536597"/>
                <a:gd name="connsiteY3" fmla="*/ 849923 h 849923"/>
                <a:gd name="connsiteX4" fmla="*/ 304800 w 536597"/>
                <a:gd name="connsiteY4" fmla="*/ 492369 h 849923"/>
                <a:gd name="connsiteX5" fmla="*/ 521677 w 536597"/>
                <a:gd name="connsiteY5" fmla="*/ 416169 h 849923"/>
                <a:gd name="connsiteX6" fmla="*/ 536597 w 536597"/>
                <a:gd name="connsiteY6" fmla="*/ 272828 h 849923"/>
                <a:gd name="connsiteX7" fmla="*/ 0 w 536597"/>
                <a:gd name="connsiteY7" fmla="*/ 0 h 849923"/>
                <a:gd name="connsiteX0" fmla="*/ 0 w 567770"/>
                <a:gd name="connsiteY0" fmla="*/ 0 h 865510"/>
                <a:gd name="connsiteX1" fmla="*/ 294942 w 567770"/>
                <a:gd name="connsiteY1" fmla="*/ 326248 h 865510"/>
                <a:gd name="connsiteX2" fmla="*/ 54619 w 567770"/>
                <a:gd name="connsiteY2" fmla="*/ 414171 h 865510"/>
                <a:gd name="connsiteX3" fmla="*/ 294942 w 567770"/>
                <a:gd name="connsiteY3" fmla="*/ 865510 h 865510"/>
                <a:gd name="connsiteX4" fmla="*/ 335973 w 567770"/>
                <a:gd name="connsiteY4" fmla="*/ 507956 h 865510"/>
                <a:gd name="connsiteX5" fmla="*/ 552850 w 567770"/>
                <a:gd name="connsiteY5" fmla="*/ 431756 h 865510"/>
                <a:gd name="connsiteX6" fmla="*/ 567770 w 567770"/>
                <a:gd name="connsiteY6" fmla="*/ 288415 h 865510"/>
                <a:gd name="connsiteX7" fmla="*/ 0 w 567770"/>
                <a:gd name="connsiteY7" fmla="*/ 0 h 865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7770" h="865510">
                  <a:moveTo>
                    <a:pt x="0" y="0"/>
                  </a:moveTo>
                  <a:lnTo>
                    <a:pt x="294942" y="326248"/>
                  </a:lnTo>
                  <a:lnTo>
                    <a:pt x="54619" y="414171"/>
                  </a:lnTo>
                  <a:lnTo>
                    <a:pt x="294942" y="865510"/>
                  </a:lnTo>
                  <a:lnTo>
                    <a:pt x="335973" y="507956"/>
                  </a:lnTo>
                  <a:lnTo>
                    <a:pt x="552850" y="431756"/>
                  </a:lnTo>
                  <a:lnTo>
                    <a:pt x="567770" y="28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C45EBF49-D586-DB41-8FBE-08934BC9980A}"/>
                </a:ext>
              </a:extLst>
            </p:cNvPr>
            <p:cNvSpPr/>
            <p:nvPr/>
          </p:nvSpPr>
          <p:spPr>
            <a:xfrm>
              <a:off x="6422382" y="4112934"/>
              <a:ext cx="2217526" cy="2434403"/>
            </a:xfrm>
            <a:custGeom>
              <a:avLst/>
              <a:gdLst>
                <a:gd name="connsiteX0" fmla="*/ 0 w 2186354"/>
                <a:gd name="connsiteY0" fmla="*/ 0 h 2403230"/>
                <a:gd name="connsiteX1" fmla="*/ 234461 w 2186354"/>
                <a:gd name="connsiteY1" fmla="*/ 674077 h 2403230"/>
                <a:gd name="connsiteX2" fmla="*/ 76200 w 2186354"/>
                <a:gd name="connsiteY2" fmla="*/ 668215 h 2403230"/>
                <a:gd name="connsiteX3" fmla="*/ 281354 w 2186354"/>
                <a:gd name="connsiteY3" fmla="*/ 1119554 h 2403230"/>
                <a:gd name="connsiteX4" fmla="*/ 41031 w 2186354"/>
                <a:gd name="connsiteY4" fmla="*/ 1137138 h 2403230"/>
                <a:gd name="connsiteX5" fmla="*/ 527538 w 2186354"/>
                <a:gd name="connsiteY5" fmla="*/ 1565030 h 2403230"/>
                <a:gd name="connsiteX6" fmla="*/ 2186354 w 2186354"/>
                <a:gd name="connsiteY6" fmla="*/ 2403230 h 2403230"/>
                <a:gd name="connsiteX7" fmla="*/ 738554 w 2186354"/>
                <a:gd name="connsiteY7" fmla="*/ 1500554 h 2403230"/>
                <a:gd name="connsiteX8" fmla="*/ 1019908 w 2186354"/>
                <a:gd name="connsiteY8" fmla="*/ 973015 h 2403230"/>
                <a:gd name="connsiteX9" fmla="*/ 674077 w 2186354"/>
                <a:gd name="connsiteY9" fmla="*/ 855784 h 2403230"/>
                <a:gd name="connsiteX10" fmla="*/ 621323 w 2186354"/>
                <a:gd name="connsiteY10" fmla="*/ 568569 h 2403230"/>
                <a:gd name="connsiteX11" fmla="*/ 0 w 2186354"/>
                <a:gd name="connsiteY11" fmla="*/ 0 h 2403230"/>
                <a:gd name="connsiteX0" fmla="*/ 0 w 2217526"/>
                <a:gd name="connsiteY0" fmla="*/ 0 h 2434403"/>
                <a:gd name="connsiteX1" fmla="*/ 265633 w 2217526"/>
                <a:gd name="connsiteY1" fmla="*/ 705250 h 2434403"/>
                <a:gd name="connsiteX2" fmla="*/ 107372 w 2217526"/>
                <a:gd name="connsiteY2" fmla="*/ 699388 h 2434403"/>
                <a:gd name="connsiteX3" fmla="*/ 312526 w 2217526"/>
                <a:gd name="connsiteY3" fmla="*/ 1150727 h 2434403"/>
                <a:gd name="connsiteX4" fmla="*/ 72203 w 2217526"/>
                <a:gd name="connsiteY4" fmla="*/ 1168311 h 2434403"/>
                <a:gd name="connsiteX5" fmla="*/ 558710 w 2217526"/>
                <a:gd name="connsiteY5" fmla="*/ 1596203 h 2434403"/>
                <a:gd name="connsiteX6" fmla="*/ 2217526 w 2217526"/>
                <a:gd name="connsiteY6" fmla="*/ 2434403 h 2434403"/>
                <a:gd name="connsiteX7" fmla="*/ 769726 w 2217526"/>
                <a:gd name="connsiteY7" fmla="*/ 1531727 h 2434403"/>
                <a:gd name="connsiteX8" fmla="*/ 1051080 w 2217526"/>
                <a:gd name="connsiteY8" fmla="*/ 1004188 h 2434403"/>
                <a:gd name="connsiteX9" fmla="*/ 705249 w 2217526"/>
                <a:gd name="connsiteY9" fmla="*/ 886957 h 2434403"/>
                <a:gd name="connsiteX10" fmla="*/ 652495 w 2217526"/>
                <a:gd name="connsiteY10" fmla="*/ 599742 h 2434403"/>
                <a:gd name="connsiteX11" fmla="*/ 0 w 2217526"/>
                <a:gd name="connsiteY11" fmla="*/ 0 h 243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7526" h="2434403">
                  <a:moveTo>
                    <a:pt x="0" y="0"/>
                  </a:moveTo>
                  <a:lnTo>
                    <a:pt x="265633" y="705250"/>
                  </a:lnTo>
                  <a:lnTo>
                    <a:pt x="107372" y="699388"/>
                  </a:lnTo>
                  <a:lnTo>
                    <a:pt x="312526" y="1150727"/>
                  </a:lnTo>
                  <a:lnTo>
                    <a:pt x="72203" y="1168311"/>
                  </a:lnTo>
                  <a:lnTo>
                    <a:pt x="558710" y="1596203"/>
                  </a:lnTo>
                  <a:lnTo>
                    <a:pt x="2217526" y="2434403"/>
                  </a:lnTo>
                  <a:lnTo>
                    <a:pt x="769726" y="1531727"/>
                  </a:lnTo>
                  <a:lnTo>
                    <a:pt x="1051080" y="1004188"/>
                  </a:lnTo>
                  <a:lnTo>
                    <a:pt x="705249" y="886957"/>
                  </a:lnTo>
                  <a:lnTo>
                    <a:pt x="652495" y="599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DCAA507-2613-8B49-A2D7-5AAB45B6277A}"/>
                </a:ext>
              </a:extLst>
            </p:cNvPr>
            <p:cNvSpPr/>
            <p:nvPr/>
          </p:nvSpPr>
          <p:spPr>
            <a:xfrm>
              <a:off x="8523875" y="3160566"/>
              <a:ext cx="1710371" cy="2783033"/>
            </a:xfrm>
            <a:custGeom>
              <a:avLst/>
              <a:gdLst>
                <a:gd name="connsiteX0" fmla="*/ 0 w 1746738"/>
                <a:gd name="connsiteY0" fmla="*/ 0 h 2819400"/>
                <a:gd name="connsiteX1" fmla="*/ 504092 w 1746738"/>
                <a:gd name="connsiteY1" fmla="*/ 978877 h 2819400"/>
                <a:gd name="connsiteX2" fmla="*/ 87923 w 1746738"/>
                <a:gd name="connsiteY2" fmla="*/ 1031631 h 2819400"/>
                <a:gd name="connsiteX3" fmla="*/ 1277815 w 1746738"/>
                <a:gd name="connsiteY3" fmla="*/ 2174631 h 2819400"/>
                <a:gd name="connsiteX4" fmla="*/ 1746738 w 1746738"/>
                <a:gd name="connsiteY4" fmla="*/ 2819400 h 2819400"/>
                <a:gd name="connsiteX5" fmla="*/ 1336430 w 1746738"/>
                <a:gd name="connsiteY5" fmla="*/ 1811215 h 2819400"/>
                <a:gd name="connsiteX6" fmla="*/ 1506415 w 1746738"/>
                <a:gd name="connsiteY6" fmla="*/ 1535723 h 2819400"/>
                <a:gd name="connsiteX7" fmla="*/ 1383323 w 1746738"/>
                <a:gd name="connsiteY7" fmla="*/ 1236785 h 2819400"/>
                <a:gd name="connsiteX8" fmla="*/ 0 w 1746738"/>
                <a:gd name="connsiteY8" fmla="*/ 0 h 2819400"/>
                <a:gd name="connsiteX0" fmla="*/ 0 w 1720761"/>
                <a:gd name="connsiteY0" fmla="*/ 0 h 2767446"/>
                <a:gd name="connsiteX1" fmla="*/ 478115 w 1720761"/>
                <a:gd name="connsiteY1" fmla="*/ 926923 h 2767446"/>
                <a:gd name="connsiteX2" fmla="*/ 61946 w 1720761"/>
                <a:gd name="connsiteY2" fmla="*/ 979677 h 2767446"/>
                <a:gd name="connsiteX3" fmla="*/ 1251838 w 1720761"/>
                <a:gd name="connsiteY3" fmla="*/ 2122677 h 2767446"/>
                <a:gd name="connsiteX4" fmla="*/ 1720761 w 1720761"/>
                <a:gd name="connsiteY4" fmla="*/ 2767446 h 2767446"/>
                <a:gd name="connsiteX5" fmla="*/ 1310453 w 1720761"/>
                <a:gd name="connsiteY5" fmla="*/ 1759261 h 2767446"/>
                <a:gd name="connsiteX6" fmla="*/ 1480438 w 1720761"/>
                <a:gd name="connsiteY6" fmla="*/ 1483769 h 2767446"/>
                <a:gd name="connsiteX7" fmla="*/ 1357346 w 1720761"/>
                <a:gd name="connsiteY7" fmla="*/ 1184831 h 2767446"/>
                <a:gd name="connsiteX8" fmla="*/ 0 w 1720761"/>
                <a:gd name="connsiteY8" fmla="*/ 0 h 2767446"/>
                <a:gd name="connsiteX0" fmla="*/ 0 w 1710371"/>
                <a:gd name="connsiteY0" fmla="*/ 0 h 2783033"/>
                <a:gd name="connsiteX1" fmla="*/ 467725 w 1710371"/>
                <a:gd name="connsiteY1" fmla="*/ 942510 h 2783033"/>
                <a:gd name="connsiteX2" fmla="*/ 51556 w 1710371"/>
                <a:gd name="connsiteY2" fmla="*/ 995264 h 2783033"/>
                <a:gd name="connsiteX3" fmla="*/ 1241448 w 1710371"/>
                <a:gd name="connsiteY3" fmla="*/ 2138264 h 2783033"/>
                <a:gd name="connsiteX4" fmla="*/ 1710371 w 1710371"/>
                <a:gd name="connsiteY4" fmla="*/ 2783033 h 2783033"/>
                <a:gd name="connsiteX5" fmla="*/ 1300063 w 1710371"/>
                <a:gd name="connsiteY5" fmla="*/ 1774848 h 2783033"/>
                <a:gd name="connsiteX6" fmla="*/ 1470048 w 1710371"/>
                <a:gd name="connsiteY6" fmla="*/ 1499356 h 2783033"/>
                <a:gd name="connsiteX7" fmla="*/ 1346956 w 1710371"/>
                <a:gd name="connsiteY7" fmla="*/ 1200418 h 2783033"/>
                <a:gd name="connsiteX8" fmla="*/ 0 w 1710371"/>
                <a:gd name="connsiteY8" fmla="*/ 0 h 278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0371" h="2783033">
                  <a:moveTo>
                    <a:pt x="0" y="0"/>
                  </a:moveTo>
                  <a:lnTo>
                    <a:pt x="467725" y="942510"/>
                  </a:lnTo>
                  <a:lnTo>
                    <a:pt x="51556" y="995264"/>
                  </a:lnTo>
                  <a:lnTo>
                    <a:pt x="1241448" y="2138264"/>
                  </a:lnTo>
                  <a:lnTo>
                    <a:pt x="1710371" y="2783033"/>
                  </a:lnTo>
                  <a:lnTo>
                    <a:pt x="1300063" y="1774848"/>
                  </a:lnTo>
                  <a:lnTo>
                    <a:pt x="1470048" y="1499356"/>
                  </a:lnTo>
                  <a:lnTo>
                    <a:pt x="1346956" y="1200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9A001011-D375-8840-8EBF-070E544C735C}"/>
                </a:ext>
              </a:extLst>
            </p:cNvPr>
            <p:cNvSpPr/>
            <p:nvPr/>
          </p:nvSpPr>
          <p:spPr>
            <a:xfrm>
              <a:off x="10756900" y="4172978"/>
              <a:ext cx="1438174" cy="2692776"/>
            </a:xfrm>
            <a:custGeom>
              <a:avLst/>
              <a:gdLst>
                <a:gd name="connsiteX0" fmla="*/ 266700 w 1447800"/>
                <a:gd name="connsiteY0" fmla="*/ 0 h 2730500"/>
                <a:gd name="connsiteX1" fmla="*/ 317500 w 1447800"/>
                <a:gd name="connsiteY1" fmla="*/ 698500 h 2730500"/>
                <a:gd name="connsiteX2" fmla="*/ 0 w 1447800"/>
                <a:gd name="connsiteY2" fmla="*/ 749300 h 2730500"/>
                <a:gd name="connsiteX3" fmla="*/ 508000 w 1447800"/>
                <a:gd name="connsiteY3" fmla="*/ 1892300 h 2730500"/>
                <a:gd name="connsiteX4" fmla="*/ 1295400 w 1447800"/>
                <a:gd name="connsiteY4" fmla="*/ 2463800 h 2730500"/>
                <a:gd name="connsiteX5" fmla="*/ 1447800 w 1447800"/>
                <a:gd name="connsiteY5" fmla="*/ 2730500 h 2730500"/>
                <a:gd name="connsiteX6" fmla="*/ 1384300 w 1447800"/>
                <a:gd name="connsiteY6" fmla="*/ 2222500 h 2730500"/>
                <a:gd name="connsiteX7" fmla="*/ 1066800 w 1447800"/>
                <a:gd name="connsiteY7" fmla="*/ 1803400 h 2730500"/>
                <a:gd name="connsiteX8" fmla="*/ 1295400 w 1447800"/>
                <a:gd name="connsiteY8" fmla="*/ 1473200 h 2730500"/>
                <a:gd name="connsiteX9" fmla="*/ 1206500 w 1447800"/>
                <a:gd name="connsiteY9" fmla="*/ 609600 h 2730500"/>
                <a:gd name="connsiteX10" fmla="*/ 266700 w 1447800"/>
                <a:gd name="connsiteY10" fmla="*/ 0 h 2730500"/>
                <a:gd name="connsiteX0" fmla="*/ 307521 w 1447800"/>
                <a:gd name="connsiteY0" fmla="*/ 0 h 2722336"/>
                <a:gd name="connsiteX1" fmla="*/ 317500 w 1447800"/>
                <a:gd name="connsiteY1" fmla="*/ 690336 h 2722336"/>
                <a:gd name="connsiteX2" fmla="*/ 0 w 1447800"/>
                <a:gd name="connsiteY2" fmla="*/ 741136 h 2722336"/>
                <a:gd name="connsiteX3" fmla="*/ 508000 w 1447800"/>
                <a:gd name="connsiteY3" fmla="*/ 1884136 h 2722336"/>
                <a:gd name="connsiteX4" fmla="*/ 1295400 w 1447800"/>
                <a:gd name="connsiteY4" fmla="*/ 2455636 h 2722336"/>
                <a:gd name="connsiteX5" fmla="*/ 1447800 w 1447800"/>
                <a:gd name="connsiteY5" fmla="*/ 2722336 h 2722336"/>
                <a:gd name="connsiteX6" fmla="*/ 1384300 w 1447800"/>
                <a:gd name="connsiteY6" fmla="*/ 2214336 h 2722336"/>
                <a:gd name="connsiteX7" fmla="*/ 1066800 w 1447800"/>
                <a:gd name="connsiteY7" fmla="*/ 1795236 h 2722336"/>
                <a:gd name="connsiteX8" fmla="*/ 1295400 w 1447800"/>
                <a:gd name="connsiteY8" fmla="*/ 1465036 h 2722336"/>
                <a:gd name="connsiteX9" fmla="*/ 1206500 w 1447800"/>
                <a:gd name="connsiteY9" fmla="*/ 601436 h 2722336"/>
                <a:gd name="connsiteX10" fmla="*/ 307521 w 1447800"/>
                <a:gd name="connsiteY10" fmla="*/ 0 h 2722336"/>
                <a:gd name="connsiteX0" fmla="*/ 288954 w 1447800"/>
                <a:gd name="connsiteY0" fmla="*/ 0 h 2740902"/>
                <a:gd name="connsiteX1" fmla="*/ 317500 w 1447800"/>
                <a:gd name="connsiteY1" fmla="*/ 708902 h 2740902"/>
                <a:gd name="connsiteX2" fmla="*/ 0 w 1447800"/>
                <a:gd name="connsiteY2" fmla="*/ 759702 h 2740902"/>
                <a:gd name="connsiteX3" fmla="*/ 508000 w 1447800"/>
                <a:gd name="connsiteY3" fmla="*/ 1902702 h 2740902"/>
                <a:gd name="connsiteX4" fmla="*/ 1295400 w 1447800"/>
                <a:gd name="connsiteY4" fmla="*/ 2474202 h 2740902"/>
                <a:gd name="connsiteX5" fmla="*/ 1447800 w 1447800"/>
                <a:gd name="connsiteY5" fmla="*/ 2740902 h 2740902"/>
                <a:gd name="connsiteX6" fmla="*/ 1384300 w 1447800"/>
                <a:gd name="connsiteY6" fmla="*/ 2232902 h 2740902"/>
                <a:gd name="connsiteX7" fmla="*/ 1066800 w 1447800"/>
                <a:gd name="connsiteY7" fmla="*/ 1813802 h 2740902"/>
                <a:gd name="connsiteX8" fmla="*/ 1295400 w 1447800"/>
                <a:gd name="connsiteY8" fmla="*/ 1483602 h 2740902"/>
                <a:gd name="connsiteX9" fmla="*/ 1206500 w 1447800"/>
                <a:gd name="connsiteY9" fmla="*/ 620002 h 2740902"/>
                <a:gd name="connsiteX10" fmla="*/ 288954 w 1447800"/>
                <a:gd name="connsiteY10" fmla="*/ 0 h 2740902"/>
                <a:gd name="connsiteX0" fmla="*/ 288954 w 1438174"/>
                <a:gd name="connsiteY0" fmla="*/ 0 h 2692776"/>
                <a:gd name="connsiteX1" fmla="*/ 317500 w 1438174"/>
                <a:gd name="connsiteY1" fmla="*/ 708902 h 2692776"/>
                <a:gd name="connsiteX2" fmla="*/ 0 w 1438174"/>
                <a:gd name="connsiteY2" fmla="*/ 759702 h 2692776"/>
                <a:gd name="connsiteX3" fmla="*/ 508000 w 1438174"/>
                <a:gd name="connsiteY3" fmla="*/ 1902702 h 2692776"/>
                <a:gd name="connsiteX4" fmla="*/ 1295400 w 1438174"/>
                <a:gd name="connsiteY4" fmla="*/ 2474202 h 2692776"/>
                <a:gd name="connsiteX5" fmla="*/ 1438174 w 1438174"/>
                <a:gd name="connsiteY5" fmla="*/ 2692776 h 2692776"/>
                <a:gd name="connsiteX6" fmla="*/ 1384300 w 1438174"/>
                <a:gd name="connsiteY6" fmla="*/ 2232902 h 2692776"/>
                <a:gd name="connsiteX7" fmla="*/ 1066800 w 1438174"/>
                <a:gd name="connsiteY7" fmla="*/ 1813802 h 2692776"/>
                <a:gd name="connsiteX8" fmla="*/ 1295400 w 1438174"/>
                <a:gd name="connsiteY8" fmla="*/ 1483602 h 2692776"/>
                <a:gd name="connsiteX9" fmla="*/ 1206500 w 1438174"/>
                <a:gd name="connsiteY9" fmla="*/ 620002 h 2692776"/>
                <a:gd name="connsiteX10" fmla="*/ 288954 w 1438174"/>
                <a:gd name="connsiteY10" fmla="*/ 0 h 269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8174" h="2692776">
                  <a:moveTo>
                    <a:pt x="288954" y="0"/>
                  </a:moveTo>
                  <a:lnTo>
                    <a:pt x="317500" y="708902"/>
                  </a:lnTo>
                  <a:lnTo>
                    <a:pt x="0" y="759702"/>
                  </a:lnTo>
                  <a:lnTo>
                    <a:pt x="508000" y="1902702"/>
                  </a:lnTo>
                  <a:lnTo>
                    <a:pt x="1295400" y="2474202"/>
                  </a:lnTo>
                  <a:lnTo>
                    <a:pt x="1438174" y="2692776"/>
                  </a:lnTo>
                  <a:lnTo>
                    <a:pt x="1384300" y="2232902"/>
                  </a:lnTo>
                  <a:lnTo>
                    <a:pt x="1066800" y="1813802"/>
                  </a:lnTo>
                  <a:lnTo>
                    <a:pt x="1295400" y="1483602"/>
                  </a:lnTo>
                  <a:lnTo>
                    <a:pt x="1206500" y="620002"/>
                  </a:lnTo>
                  <a:lnTo>
                    <a:pt x="28895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2224E1A4-8603-F943-B388-2DE862A3E01D}"/>
                </a:ext>
              </a:extLst>
            </p:cNvPr>
            <p:cNvSpPr/>
            <p:nvPr/>
          </p:nvSpPr>
          <p:spPr>
            <a:xfrm>
              <a:off x="2743200" y="3521036"/>
              <a:ext cx="5432219" cy="3379829"/>
            </a:xfrm>
            <a:custGeom>
              <a:avLst/>
              <a:gdLst>
                <a:gd name="connsiteX0" fmla="*/ 0 w 6572250"/>
                <a:gd name="connsiteY0" fmla="*/ 4614863 h 4614863"/>
                <a:gd name="connsiteX1" fmla="*/ 1600200 w 6572250"/>
                <a:gd name="connsiteY1" fmla="*/ 3200400 h 4614863"/>
                <a:gd name="connsiteX2" fmla="*/ 2171700 w 6572250"/>
                <a:gd name="connsiteY2" fmla="*/ 3486150 h 4614863"/>
                <a:gd name="connsiteX3" fmla="*/ 3686175 w 6572250"/>
                <a:gd name="connsiteY3" fmla="*/ 1785938 h 4614863"/>
                <a:gd name="connsiteX4" fmla="*/ 4357688 w 6572250"/>
                <a:gd name="connsiteY4" fmla="*/ 2400300 h 4614863"/>
                <a:gd name="connsiteX5" fmla="*/ 6572250 w 6572250"/>
                <a:gd name="connsiteY5" fmla="*/ 0 h 4614863"/>
                <a:gd name="connsiteX0" fmla="*/ 0 w 5432219"/>
                <a:gd name="connsiteY0" fmla="*/ 3379829 h 3379829"/>
                <a:gd name="connsiteX1" fmla="*/ 1600200 w 5432219"/>
                <a:gd name="connsiteY1" fmla="*/ 1965366 h 3379829"/>
                <a:gd name="connsiteX2" fmla="*/ 2171700 w 5432219"/>
                <a:gd name="connsiteY2" fmla="*/ 2251116 h 3379829"/>
                <a:gd name="connsiteX3" fmla="*/ 3686175 w 5432219"/>
                <a:gd name="connsiteY3" fmla="*/ 550904 h 3379829"/>
                <a:gd name="connsiteX4" fmla="*/ 4357688 w 5432219"/>
                <a:gd name="connsiteY4" fmla="*/ 1165266 h 3379829"/>
                <a:gd name="connsiteX5" fmla="*/ 5432219 w 5432219"/>
                <a:gd name="connsiteY5" fmla="*/ 0 h 3379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32219" h="3379829">
                  <a:moveTo>
                    <a:pt x="0" y="3379829"/>
                  </a:moveTo>
                  <a:lnTo>
                    <a:pt x="1600200" y="1965366"/>
                  </a:lnTo>
                  <a:lnTo>
                    <a:pt x="2171700" y="2251116"/>
                  </a:lnTo>
                  <a:lnTo>
                    <a:pt x="3686175" y="550904"/>
                  </a:lnTo>
                  <a:lnTo>
                    <a:pt x="4357688" y="1165266"/>
                  </a:lnTo>
                  <a:lnTo>
                    <a:pt x="5432219" y="0"/>
                  </a:lnTo>
                </a:path>
              </a:pathLst>
            </a:custGeom>
            <a:noFill/>
            <a:ln w="69850">
              <a:solidFill>
                <a:schemeClr val="bg2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Текст 2">
            <a:extLst>
              <a:ext uri="{FF2B5EF4-FFF2-40B4-BE49-F238E27FC236}">
                <a16:creationId xmlns:a16="http://schemas.microsoft.com/office/drawing/2014/main" id="{56E9E17D-8AC1-D849-BA48-B5BEDC511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4AADF3D3-AFBC-6841-9B45-A7155C9C7F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01C1EB4-C198-0746-96DB-5A1EAFFC2DD1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21" name="Нижний колонтитул 3">
            <a:extLst>
              <a:ext uri="{FF2B5EF4-FFF2-40B4-BE49-F238E27FC236}">
                <a16:creationId xmlns:a16="http://schemas.microsoft.com/office/drawing/2014/main" id="{602DFBC8-D0A1-8A45-8E2E-A3F064694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3855" y="6356349"/>
            <a:ext cx="3385837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r>
              <a:rPr lang="ru-RU"/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  <a:endParaRPr lang="ru-RU" dirty="0"/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39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E898A1B-0441-FF49-BF91-E55F48CBB7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7870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23468D-8EE1-1043-8933-8DFE1FA7BD1B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08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0134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Текст 4">
            <a:extLst>
              <a:ext uri="{FF2B5EF4-FFF2-40B4-BE49-F238E27FC236}">
                <a16:creationId xmlns:a16="http://schemas.microsoft.com/office/drawing/2014/main" id="{708B971F-3431-8343-970C-119F9B8E97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719461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Заголовок 16">
            <a:extLst>
              <a:ext uri="{FF2B5EF4-FFF2-40B4-BE49-F238E27FC236}">
                <a16:creationId xmlns:a16="http://schemas.microsoft.com/office/drawing/2014/main" id="{613E94BC-CCEB-784A-9FA5-B53A8B79B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45936"/>
            <a:ext cx="7269418" cy="1263213"/>
          </a:xfrm>
        </p:spPr>
        <p:txBody>
          <a:bodyPr vert="horz" lIns="0" tIns="0" rIns="0" bIns="0"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C7EEA3C-D68A-5A41-9D32-181E2305EDAA}"/>
              </a:ext>
            </a:extLst>
          </p:cNvPr>
          <p:cNvGrpSpPr/>
          <p:nvPr userDrawn="1"/>
        </p:nvGrpSpPr>
        <p:grpSpPr>
          <a:xfrm>
            <a:off x="227165" y="4390517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2FBFD15A-7232-634E-B5E0-140D0D8906EC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22DEB5DA-DC02-B243-96C3-83890778DED2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88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EDB7-4B81-40C7-8AAF-EA11C612D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0A46C-23D3-4D26-A06A-AEB9920FA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C791-BF69-4DC2-A799-2E7A2BB1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163B-8EE3-4356-93B8-70F784CB301D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1BDE-D4A5-469D-87CE-0F936649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BB942-A2A5-4306-9CDB-2E9E4265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21BE2-32CF-4EBF-8381-064BF1451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0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>
            <a:extLst>
              <a:ext uri="{FF2B5EF4-FFF2-40B4-BE49-F238E27FC236}">
                <a16:creationId xmlns:a16="http://schemas.microsoft.com/office/drawing/2014/main" id="{261D4D59-CE6F-8946-8CEC-CFA017835E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958887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8" imgW="7772400" imgH="10058400" progId="TCLayout.ActiveDocument.1">
                  <p:embed/>
                </p:oleObj>
              </mc:Choice>
              <mc:Fallback>
                <p:oleObj name="Слайд think-cell" r:id="rId4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31664-1E76-6F48-B95F-1623FC4B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504A0-B12C-F547-9F37-CD4801EB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A8C393-4B6E-B244-A9AE-C2BE3E519C6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382E046-203B-AE4C-B16E-8F7BEB498396}"/>
              </a:ext>
            </a:extLst>
          </p:cNvPr>
          <p:cNvCxnSpPr>
            <a:cxnSpLocks/>
          </p:cNvCxnSpPr>
          <p:nvPr userDrawn="1"/>
        </p:nvCxnSpPr>
        <p:spPr>
          <a:xfrm>
            <a:off x="11104840" y="6460250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90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48" r:id="rId2"/>
    <p:sldLayoutId id="2147483731" r:id="rId3"/>
    <p:sldLayoutId id="2147483710" r:id="rId4"/>
    <p:sldLayoutId id="2147483732" r:id="rId5"/>
    <p:sldLayoutId id="2147483711" r:id="rId6"/>
    <p:sldLayoutId id="2147483733" r:id="rId7"/>
    <p:sldLayoutId id="2147483712" r:id="rId8"/>
    <p:sldLayoutId id="2147483734" r:id="rId9"/>
    <p:sldLayoutId id="2147483713" r:id="rId10"/>
    <p:sldLayoutId id="2147483735" r:id="rId11"/>
    <p:sldLayoutId id="2147483714" r:id="rId12"/>
    <p:sldLayoutId id="2147483736" r:id="rId13"/>
    <p:sldLayoutId id="2147483649" r:id="rId14"/>
    <p:sldLayoutId id="2147483715" r:id="rId15"/>
    <p:sldLayoutId id="2147483716" r:id="rId16"/>
    <p:sldLayoutId id="2147483717" r:id="rId17"/>
    <p:sldLayoutId id="2147483768" r:id="rId18"/>
    <p:sldLayoutId id="2147483719" r:id="rId19"/>
    <p:sldLayoutId id="2147483769" r:id="rId20"/>
    <p:sldLayoutId id="2147483722" r:id="rId21"/>
    <p:sldLayoutId id="2147483723" r:id="rId22"/>
    <p:sldLayoutId id="2147483724" r:id="rId23"/>
    <p:sldLayoutId id="2147483725" r:id="rId24"/>
    <p:sldLayoutId id="2147483767" r:id="rId25"/>
    <p:sldLayoutId id="2147483727" r:id="rId26"/>
    <p:sldLayoutId id="2147483770" r:id="rId27"/>
    <p:sldLayoutId id="2147483759" r:id="rId28"/>
    <p:sldLayoutId id="2147483728" r:id="rId29"/>
    <p:sldLayoutId id="2147483729" r:id="rId30"/>
    <p:sldLayoutId id="2147483730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57" r:id="rId38"/>
    <p:sldLayoutId id="2147483744" r:id="rId39"/>
    <p:sldLayoutId id="2147483764" r:id="rId40"/>
    <p:sldLayoutId id="2147483765" r:id="rId41"/>
    <p:sldLayoutId id="2147483760" r:id="rId42"/>
    <p:sldLayoutId id="2147483761" r:id="rId43"/>
    <p:sldLayoutId id="2147483766" r:id="rId44"/>
    <p:sldLayoutId id="2147483771" r:id="rId4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6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orient="horz" pos="686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593C-4C6D-41BF-8594-DE87D308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2958134"/>
            <a:ext cx="7711532" cy="1107996"/>
          </a:xfrm>
        </p:spPr>
        <p:txBody>
          <a:bodyPr/>
          <a:lstStyle/>
          <a:p>
            <a:r>
              <a:rPr lang="ru-RU" dirty="0"/>
              <a:t>Ключи. Виды связей</a:t>
            </a:r>
            <a:br>
              <a:rPr lang="en-US" dirty="0"/>
            </a:br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9C1ED47-C9EC-E871-CD7A-2940AD1E02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04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2C54-3F50-42D8-A44E-6B679E08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Введение: вспоминаем реляционную модель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4EC77-09B1-B198-930C-375CFC85A6F4}"/>
              </a:ext>
            </a:extLst>
          </p:cNvPr>
          <p:cNvSpPr txBox="1"/>
          <p:nvPr/>
        </p:nvSpPr>
        <p:spPr>
          <a:xfrm>
            <a:off x="353427" y="1240668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Реляционная модель данных, предложенная Эдгаром Коддом в 1970 году, основана на математическом понятии отношения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relation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 Данные представляются в виде таблиц (отношений), строк (кортежей) и столбцов (атрибутов). Для однозначной идентификации записей и организации логических связей между таблицами используются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ключи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Именно ключи обеспечивают целостность данных и позволяют строить корректные запросы.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97FD5-AC12-3F56-4DD5-7C51D83C4111}"/>
              </a:ext>
            </a:extLst>
          </p:cNvPr>
          <p:cNvSpPr txBox="1"/>
          <p:nvPr/>
        </p:nvSpPr>
        <p:spPr>
          <a:xfrm>
            <a:off x="353427" y="4738764"/>
            <a:ext cx="6097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1" dirty="0">
                <a:solidFill>
                  <a:schemeClr val="tx1"/>
                </a:solidFill>
                <a:effectLst/>
                <a:latin typeface="+mn-lt"/>
              </a:rPr>
              <a:t>Ключ</a:t>
            </a:r>
            <a:r>
              <a:rPr lang="ru-RU" sz="1800" b="0" i="1" dirty="0">
                <a:solidFill>
                  <a:schemeClr val="tx1"/>
                </a:solidFill>
                <a:effectLst/>
                <a:latin typeface="+mn-lt"/>
              </a:rPr>
              <a:t> — это атрибут или набор атрибутов, который однозначно идентифицирует кортеж (строку) в отношении (таблице). Ключи делятся на несколько видов в зависимости от их роли и свойств.</a:t>
            </a:r>
            <a:endParaRPr lang="ru-RU" i="1" dirty="0"/>
          </a:p>
        </p:txBody>
      </p:sp>
      <p:pic>
        <p:nvPicPr>
          <p:cNvPr id="9" name="Рисунок 8" descr="База данных ключевых значений – Бесплатные иконки: сеть">
            <a:extLst>
              <a:ext uri="{FF2B5EF4-FFF2-40B4-BE49-F238E27FC236}">
                <a16:creationId xmlns:a16="http://schemas.microsoft.com/office/drawing/2014/main" id="{5BE09257-ED19-7551-D0E0-163D7D3F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06" y="1726532"/>
            <a:ext cx="3064382" cy="306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0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F28E-B0A9-7E35-B775-4A5F759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75BC-16FE-17F8-75AE-83EDA648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Первичный ключ (</a:t>
            </a:r>
            <a:r>
              <a:rPr lang="en-US" dirty="0"/>
              <a:t>primary key)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06B38-B682-726C-9425-5CFA781EBA0D}"/>
              </a:ext>
            </a:extLst>
          </p:cNvPr>
          <p:cNvSpPr txBox="1"/>
          <p:nvPr/>
        </p:nvSpPr>
        <p:spPr>
          <a:xfrm>
            <a:off x="0" y="5950535"/>
            <a:ext cx="60970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1" dirty="0">
                <a:solidFill>
                  <a:schemeClr val="tx1"/>
                </a:solidFill>
                <a:effectLst/>
                <a:latin typeface="+mn-lt"/>
              </a:rPr>
              <a:t>GENERATED ALWAYS AS IDENTITY — стандартный SQL-синтаксис, предпочтительнее SERIAL, так как не позволяет случайно вставить своё значение в столбец.</a:t>
            </a:r>
            <a:endParaRPr lang="ru-RU" sz="1100" i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558755-8972-8B9E-08C9-9C308198F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29" y="3146832"/>
            <a:ext cx="4497306" cy="25491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62191D-54E4-A8A7-2AE4-FF66DDF51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74" y="1012728"/>
            <a:ext cx="2749215" cy="1879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1615C0-4525-0DF8-9F1F-240A6D9A2253}"/>
              </a:ext>
            </a:extLst>
          </p:cNvPr>
          <p:cNvSpPr txBox="1"/>
          <p:nvPr/>
        </p:nvSpPr>
        <p:spPr>
          <a:xfrm>
            <a:off x="5833812" y="907465"/>
            <a:ext cx="4952500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Первичный ключ — это один из потенциальных ключей, выбранный в качестве основного идентификатора таблицы. Свойства первичного ключа: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+mn-lt"/>
              </a:rPr>
              <a:t>Уникальность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: значения не повторяются.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200" b="1" i="0" dirty="0" err="1">
                <a:solidFill>
                  <a:schemeClr val="tx1"/>
                </a:solidFill>
                <a:effectLst/>
                <a:latin typeface="+mn-lt"/>
              </a:rPr>
              <a:t>Непустота</a:t>
            </a:r>
            <a:r>
              <a:rPr lang="ru-RU" sz="1200" b="1" i="0" dirty="0">
                <a:solidFill>
                  <a:schemeClr val="tx1"/>
                </a:solidFill>
                <a:effectLst/>
                <a:latin typeface="+mn-lt"/>
              </a:rPr>
              <a:t> (NOT NULL)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: первичный ключ не может содержать NULL.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+mn-lt"/>
              </a:rPr>
              <a:t>Один на таблицу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: у таблицы может быть только один первичный ключ (но он может быть составным).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+mn-lt"/>
              </a:rPr>
              <a:t>Неизменяемость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: значения первичного ключа не должны меняться со временем (рекомендация).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Первичный ключ может быть: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+mn-lt"/>
              </a:rPr>
              <a:t>Простым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 — состоит из одного атрибута (например, </a:t>
            </a:r>
            <a:r>
              <a:rPr lang="ru-RU" sz="1200" b="0" i="0" dirty="0" err="1">
                <a:solidFill>
                  <a:schemeClr val="tx1"/>
                </a:solidFill>
                <a:effectLst/>
                <a:latin typeface="+mn-lt"/>
              </a:rPr>
              <a:t>ID_клиента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+mn-lt"/>
              </a:rPr>
              <a:t>Составным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 — состоит из нескольких атрибутов (например, {</a:t>
            </a:r>
            <a:r>
              <a:rPr lang="ru-RU" sz="1200" b="0" i="0" dirty="0" err="1">
                <a:solidFill>
                  <a:schemeClr val="tx1"/>
                </a:solidFill>
                <a:effectLst/>
                <a:latin typeface="+mn-lt"/>
              </a:rPr>
              <a:t>ID_заказа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200" b="0" i="0" dirty="0" err="1">
                <a:solidFill>
                  <a:schemeClr val="tx1"/>
                </a:solidFill>
                <a:effectLst/>
                <a:latin typeface="+mn-lt"/>
              </a:rPr>
              <a:t>ID_товара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+mn-lt"/>
              </a:rPr>
              <a:t>} в таблице «Состав заказа»).</a:t>
            </a:r>
            <a:endParaRPr lang="ru-RU" sz="10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63891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98A92-09C6-D00D-42D0-5E6C9484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8E72-DA50-740A-9AD2-BA44DDCA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Составной первичный ключ (</a:t>
            </a:r>
            <a:r>
              <a:rPr lang="en-US" dirty="0"/>
              <a:t>primary key)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1BCBFA-D83D-F18F-86DE-018748C3F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07" y="919665"/>
            <a:ext cx="5369093" cy="2607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AF87F-6EDE-9945-3320-D4652FCD0FB4}"/>
              </a:ext>
            </a:extLst>
          </p:cNvPr>
          <p:cNvSpPr txBox="1"/>
          <p:nvPr/>
        </p:nvSpPr>
        <p:spPr>
          <a:xfrm>
            <a:off x="726907" y="4012259"/>
            <a:ext cx="60970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Пара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order_id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product_id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уникальна — один товар не может встречаться в заказе дважды. При этом каждый столбец по отдельности может повторяться.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452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34D1-6E1C-B0E8-6920-F318FF9A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02C8-BB57-298A-77A7-93F2110A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Проверка поведения первичного ключа (</a:t>
            </a:r>
            <a:r>
              <a:rPr lang="en-US" dirty="0"/>
              <a:t>primary key)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C68E4D-AFC4-1BED-E971-235585AB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79" y="1197142"/>
            <a:ext cx="99060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8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1B3D-59C1-3E5B-86F0-2D646C4A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0868D-9201-50B3-CB3E-F53C36E7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Потенциальный и уникальный ключ </a:t>
            </a:r>
            <a:r>
              <a:rPr lang="en-US" dirty="0"/>
              <a:t>(Unique)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112F5-C374-3582-0035-23DD485D2F9D}"/>
              </a:ext>
            </a:extLst>
          </p:cNvPr>
          <p:cNvSpPr txBox="1"/>
          <p:nvPr/>
        </p:nvSpPr>
        <p:spPr>
          <a:xfrm>
            <a:off x="924928" y="743589"/>
            <a:ext cx="6097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Потенциальный ключ — минимальный набор атрибутов, уникально идентифицирующий строку. Один из них становится первичным, остальные — альтернативными (реализуются через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UNIQUE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0BCA54-FC6A-D481-8310-68CD17A48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2650205"/>
            <a:ext cx="11944350" cy="1990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736C4A-8374-E21E-132C-2DB7A6AB6326}"/>
              </a:ext>
            </a:extLst>
          </p:cNvPr>
          <p:cNvSpPr txBox="1"/>
          <p:nvPr/>
        </p:nvSpPr>
        <p:spPr>
          <a:xfrm>
            <a:off x="1352048" y="5109093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Здесь три потенциальных ключа: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record_book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passport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email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Первичным выбран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student_id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остальные три стали альтернативными.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000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031C7-FBA6-104C-CD9E-4BE20CEE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041E-2AF8-9551-4638-51B8030B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Потенциальный и уникальный ключ </a:t>
            </a:r>
            <a:r>
              <a:rPr lang="en-US" dirty="0"/>
              <a:t>(Unique)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AFE222-F18F-3807-810F-FAADD6B9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07" y="1141633"/>
            <a:ext cx="8667500" cy="3534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27D4B0-650D-19CE-969E-704EDCCE8CB8}"/>
              </a:ext>
            </a:extLst>
          </p:cNvPr>
          <p:cNvSpPr txBox="1"/>
          <p:nvPr/>
        </p:nvSpPr>
        <p:spPr>
          <a:xfrm>
            <a:off x="1279859" y="4925469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Важное отличие UNIQUE от PRIMARY KEY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UNIQUE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допускает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NULL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(причём несколько NULL — они считаются различными), а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PRIMARY KEY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нет.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4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8FBC5-4A01-0C5B-7140-FDA7BF14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72E5-61DF-1AE9-9A50-6D8394B05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Составной уникальный ключ </a:t>
            </a:r>
            <a:r>
              <a:rPr lang="en-US" dirty="0"/>
              <a:t>(Unique)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1233B8-81D1-FF2D-F014-77BA6F655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9" y="1075976"/>
            <a:ext cx="7524388" cy="3157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B8A94C-553D-88B4-1899-FF3861CEF912}"/>
              </a:ext>
            </a:extLst>
          </p:cNvPr>
          <p:cNvSpPr txBox="1"/>
          <p:nvPr/>
        </p:nvSpPr>
        <p:spPr>
          <a:xfrm>
            <a:off x="702343" y="4547665"/>
            <a:ext cx="60970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Ограничение гарантирует, что один гость не забронирует одну комнату на одну и ту же дату дважды, но допускает повтор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room_id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или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guest_id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по отдельности.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168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BA26-0DE2-2230-58A1-4866530C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2977-D1DD-2FE9-31E1-4434678C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Внешний ключ </a:t>
            </a:r>
            <a:r>
              <a:rPr lang="en-US" dirty="0"/>
              <a:t>(foreign key)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7AB8DA-D303-8E08-C57B-60197FEC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07" y="1334984"/>
            <a:ext cx="4729914" cy="1428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E196E4-DB0C-DC23-7CBF-20AB52242E54}"/>
              </a:ext>
            </a:extLst>
          </p:cNvPr>
          <p:cNvSpPr txBox="1"/>
          <p:nvPr/>
        </p:nvSpPr>
        <p:spPr>
          <a:xfrm>
            <a:off x="124828" y="3378962"/>
            <a:ext cx="6097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 err="1">
                <a:solidFill>
                  <a:schemeClr val="tx1"/>
                </a:solidFill>
                <a:effectLst/>
                <a:latin typeface="+mn-lt"/>
              </a:rPr>
              <a:t>customer_id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 в 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+mn-lt"/>
              </a:rPr>
              <a:t>orders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 — внешний ключ на 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+mn-lt"/>
              </a:rPr>
              <a:t>customers.customer_id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. Значения могут повторяться (у одного клиента много заказов), но не могут ссылаться на несуществующего клиента.</a:t>
            </a:r>
            <a:endParaRPr lang="ru-RU" sz="1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655F69F-E0B7-AB28-F579-B5A01EC9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2" y="4609848"/>
            <a:ext cx="3381375" cy="1343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60573B-8D47-A95B-C69F-180E1D18895C}"/>
              </a:ext>
            </a:extLst>
          </p:cNvPr>
          <p:cNvSpPr txBox="1"/>
          <p:nvPr/>
        </p:nvSpPr>
        <p:spPr>
          <a:xfrm>
            <a:off x="6549192" y="1286105"/>
            <a:ext cx="4369466" cy="428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1" dirty="0">
                <a:solidFill>
                  <a:schemeClr val="tx1"/>
                </a:solidFill>
                <a:effectLst/>
                <a:latin typeface="+mn-lt"/>
              </a:rPr>
              <a:t>Внешний ключ </a:t>
            </a:r>
            <a:r>
              <a:rPr lang="ru-RU" sz="1400" b="0" i="1" dirty="0">
                <a:solidFill>
                  <a:schemeClr val="tx1"/>
                </a:solidFill>
                <a:effectLst/>
                <a:latin typeface="+mn-lt"/>
              </a:rPr>
              <a:t>— это атрибут (или набор атрибутов) одной таблицы, который ссылается на первичный ключ другой таблицы (или на потенциальный ключ, объявленный уникальным). 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Внешний ключ: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Обеспечивает 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+mn-lt"/>
              </a:rPr>
              <a:t>ссылочную целостность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: нельзя вставить в дочернюю таблицу значение, отсутствующее в родительской.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Может содержать 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+mn-lt"/>
              </a:rPr>
              <a:t>NULL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 (если связь необязательна).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Может содержать 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+mn-lt"/>
              </a:rPr>
              <a:t>повторяющиеся значения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 (при связи «один ко многим»).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Может ссылаться на 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+mn-lt"/>
              </a:rPr>
              <a:t>ту же самую таблицу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 (рекурсивная связь, например, 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+mn-lt"/>
              </a:rPr>
              <a:t>ID_руководителя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+mn-lt"/>
              </a:rPr>
              <a:t> в таблице «Сотрудники»).</a:t>
            </a:r>
            <a:endParaRPr lang="ru-RU" sz="105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640881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C289-089C-E27C-F61D-7BF1712B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C1EB-29F2-20C1-BCA0-19FDEF64C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Составной внешний ключ </a:t>
            </a:r>
            <a:r>
              <a:rPr lang="en-US" dirty="0"/>
              <a:t>(foreign key)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B36216-3D4E-8C2B-5B60-C43885AAA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8" y="1332998"/>
            <a:ext cx="6238147" cy="2878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378342-9494-5F6B-920A-AAFC40A86720}"/>
              </a:ext>
            </a:extLst>
          </p:cNvPr>
          <p:cNvSpPr txBox="1"/>
          <p:nvPr/>
        </p:nvSpPr>
        <p:spPr>
          <a:xfrm>
            <a:off x="672264" y="4798368"/>
            <a:ext cx="6097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Внешний ключ может ссылаться на составной первичный ключ — тогда он сам должен быть составным и совпадать по набору столбцов.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61DC4B5-8412-0864-021E-75E2C02C5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257" y="4592804"/>
            <a:ext cx="31813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2DCE-C644-1A9B-2E83-0E5A5E78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425A-9284-7384-DBD0-C9785ED2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Суррогатный </a:t>
            </a:r>
            <a:r>
              <a:rPr lang="en-US" dirty="0"/>
              <a:t>vs </a:t>
            </a:r>
            <a:r>
              <a:rPr lang="ru-RU" dirty="0"/>
              <a:t>Естественный ключ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73C584-67BE-3709-94C4-2E5E75A16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98" y="1348790"/>
            <a:ext cx="108108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3A88D-8C86-6828-186B-6E12D775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EB33-92CA-07DA-D165-86E767D9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Целостность данных и роль ключей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B254B-0EEF-D122-E4A7-63DA29513AC5}"/>
              </a:ext>
            </a:extLst>
          </p:cNvPr>
          <p:cNvSpPr txBox="1"/>
          <p:nvPr/>
        </p:nvSpPr>
        <p:spPr>
          <a:xfrm>
            <a:off x="517358" y="824441"/>
            <a:ext cx="11586410" cy="604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Ключи обеспечивают два вида целостности: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1. Целостность сущности (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Entity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Integrity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Первичный ключ не может быть NULL и должен быть уникальным. Это гарантирует, что каждая строка идентифицируема.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2. Ссылочная целостность (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Referential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Integrity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Внешний ключ должен ссылаться на существующее значение первичного ключа родительской таблицы (или быть NULL). При удалении/обновлении родительской записи возможны следующие стратегии: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RESTRICT / NO ACTION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запрет операции при наличии ссылок.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CASCADE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каскадное удаление/обновление дочерних записей.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SET NULL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установка NULL во внешнем ключе.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SET DEFAULT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установка значения по умолчанию.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6958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DFDB-8843-2416-D2EC-331A35D9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5575-16B9-D65D-F975-FEECC638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Стратегии ссылочных действий (самостоятельно)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DA84-F918-82A3-E156-7E99F79D52EE}"/>
              </a:ext>
            </a:extLst>
          </p:cNvPr>
          <p:cNvSpPr txBox="1"/>
          <p:nvPr/>
        </p:nvSpPr>
        <p:spPr>
          <a:xfrm>
            <a:off x="723115" y="1074348"/>
            <a:ext cx="111941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CASCADE: удаление родителя удаляет детей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CREATE TABLE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comments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comment_id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INT GENERATED ALWAYS AS IDENTITY PRIMARY KEY,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post_id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 INT NOT NULL REFERENCES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posts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post_id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 ON DELETE CASCADE,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body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    TEXT NOT NULL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DELETE FROM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posts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WHERE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post_id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= 1;  -- удалит все комментарии этого поста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ru-RU" sz="105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SET NULL: удаление родителя обнуляет FK у детей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CREATE TABLE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tasks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task_id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 INT GENERATED ALWAYS AS IDENTITY PRIMARY KEY,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assignee_id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INT REFERENCES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employees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emp_id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 ON DELETE SET NULL,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title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   TEXT NOT NULL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DELETE FROM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employees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WHERE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emp_id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= 5;  -- задачи останутся,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assignee_id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= NULL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ru-RU" sz="105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SET DEFAULT: удаление родителя подставляет значение по умолчанию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CREATE TABLE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tickets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ticket_id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INT GENERATED ALWAYS AS IDENTITY PRIMARY KEY,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status_id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INT NOT NULL DEFAULT 1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            REFERENCES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ticket_status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status_id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 ON DELETE SET DEFAULT,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subject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 TEXT NOT NULL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DELETE FROM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ticket_status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WHERE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status_id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= 3;  --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tickets.status_id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станет 1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ru-RU" sz="105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RESTRICT / NO ACTION: запрет операции при наличии ссылок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CREATE TABLE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invoices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invoice_id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INT GENERATED ALWAYS AS IDENTITY PRIMARY KEY,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order_id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INT NOT NULL REFERENCES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orders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order_id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 ON DELETE RESTRICT,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amount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     NUMERIC(12,2) NOT NULL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-- DELETE FROM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orders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WHERE </a:t>
            </a:r>
            <a:r>
              <a:rPr lang="ru-RU" sz="1050" b="0" dirty="0" err="1">
                <a:solidFill>
                  <a:schemeClr val="tx1"/>
                </a:solidFill>
                <a:effectLst/>
                <a:latin typeface="+mn-lt"/>
              </a:rPr>
              <a:t>order_id</a:t>
            </a:r>
            <a:r>
              <a:rPr lang="ru-RU" sz="1050" b="0" dirty="0">
                <a:solidFill>
                  <a:schemeClr val="tx1"/>
                </a:solidFill>
                <a:effectLst/>
                <a:latin typeface="+mn-lt"/>
              </a:rPr>
              <a:t> = 1;  -- ERROR, пока есть счета</a:t>
            </a:r>
            <a:endParaRPr lang="ru-RU" sz="500" b="0" dirty="0">
              <a:solidFill>
                <a:srgbClr val="F9FAFB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89149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332B-1A0A-925F-2243-2C7A7DEE6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A261-1280-6B68-5D9C-31F27CD4A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Виды связей между таблицами</a:t>
            </a:r>
            <a:endParaRPr lang="en-US" dirty="0"/>
          </a:p>
        </p:txBody>
      </p:sp>
      <p:pic>
        <p:nvPicPr>
          <p:cNvPr id="4" name="Рисунок 3" descr="Создаём простые связи в базе данных — Журнал «Код» программирование без  снобизма">
            <a:extLst>
              <a:ext uri="{FF2B5EF4-FFF2-40B4-BE49-F238E27FC236}">
                <a16:creationId xmlns:a16="http://schemas.microsoft.com/office/drawing/2014/main" id="{4F0A77A9-3866-7115-AFFC-69CF69E17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59" y="1004635"/>
            <a:ext cx="6689674" cy="3865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1C61A-53A7-574C-C92E-B9CC698EAC9B}"/>
              </a:ext>
            </a:extLst>
          </p:cNvPr>
          <p:cNvSpPr txBox="1"/>
          <p:nvPr/>
        </p:nvSpPr>
        <p:spPr>
          <a:xfrm>
            <a:off x="1676901" y="5465343"/>
            <a:ext cx="6097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Связи между таблицами в реляционной модели отражают логические отношения между сущностями предметной области.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3734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C93A-E518-2278-175D-C60C2D4C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B558-F291-03EB-FD52-FBDBFA8E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«Один к одному» (</a:t>
            </a:r>
            <a:r>
              <a:rPr lang="en-US" dirty="0"/>
              <a:t>1:1)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29C00-550E-791C-0F22-05DA92199572}"/>
              </a:ext>
            </a:extLst>
          </p:cNvPr>
          <p:cNvSpPr txBox="1"/>
          <p:nvPr/>
        </p:nvSpPr>
        <p:spPr>
          <a:xfrm>
            <a:off x="679785" y="851436"/>
            <a:ext cx="11069052" cy="560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Определение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одной записи в таблице A соответствует не более одной записи в таблице B, и наоборот.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Реализация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Первичный ключ одной таблицы одновременно является внешним ключом, ссылающимся на первичный ключ другой таблицы.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На внешний ключ накладывается ограничение UNIQUE, чтобы исключить дублирование.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Пример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таблица «Сотрудники» и таблица «Паспортные данные». У одного сотрудника — один паспорт.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Применение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Разделение широкой таблицы на несколько узких (для производительности).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Вынесение конфиденциальных данных в отдельную таблицу (для безопасности).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Хранение необязательных атрибутов.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41172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DB3F1-E1FD-20EF-AE22-4444C49D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E558-C989-977B-6B7F-565ED737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«Один к одному» (</a:t>
            </a:r>
            <a:r>
              <a:rPr lang="en-US" dirty="0"/>
              <a:t>1:1)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6E7162-E794-F8AA-B684-9C72868EE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06" y="1037724"/>
            <a:ext cx="5734826" cy="22890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BBC523-B153-F567-3E60-F678344F1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41" y="3679410"/>
            <a:ext cx="5072565" cy="15119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7B44D1-C368-8325-64F1-524C66914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171" y="3211430"/>
            <a:ext cx="3067050" cy="1181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B7AF54-1209-8DE3-10A0-97C70C565A5C}"/>
              </a:ext>
            </a:extLst>
          </p:cNvPr>
          <p:cNvSpPr txBox="1"/>
          <p:nvPr/>
        </p:nvSpPr>
        <p:spPr>
          <a:xfrm>
            <a:off x="6471485" y="2396264"/>
            <a:ext cx="6097002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Пример: сотрудник и его пропуск</a:t>
            </a:r>
            <a:endParaRPr lang="ru-RU" sz="15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686773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9988-BA66-B976-E0FE-022169E7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C619-22A9-7300-3DB1-9C0BA1A8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«Один ко многим» (</a:t>
            </a:r>
            <a:r>
              <a:rPr lang="en-US" dirty="0"/>
              <a:t>1:</a:t>
            </a:r>
            <a:r>
              <a:rPr lang="ru-RU" dirty="0"/>
              <a:t>М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CFBBA-B9ED-883A-DBC2-82B40E6247B7}"/>
              </a:ext>
            </a:extLst>
          </p:cNvPr>
          <p:cNvSpPr txBox="1"/>
          <p:nvPr/>
        </p:nvSpPr>
        <p:spPr>
          <a:xfrm>
            <a:off x="631659" y="1317762"/>
            <a:ext cx="10202778" cy="4034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Определение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одной записи в таблице A (родительской) может соответствовать множество записей в таблице B (дочерней), но каждой записи в B соответствует ровно одна запись в A.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Реализация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 дочернюю таблицу добавляется внешний ключ, ссылающийся на первичный ключ родительской таблицы.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На внешний ключ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не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накладывается ограничение UNIQUE (значения могут повторяться).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Пример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таблица «Заказы» и таблица «Клиенты». У одного клиента — много заказов, но каждый заказ относится только к одному клиенту.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Примечание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это самый распространенный тип связи в реляционных БД.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23794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89F9-B478-10D7-A5DE-AE20466C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93D9-C9F9-8BBA-A70A-C2C6AAF8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«Один ко многим» (</a:t>
            </a:r>
            <a:r>
              <a:rPr lang="en-US" dirty="0"/>
              <a:t>1:</a:t>
            </a:r>
            <a:r>
              <a:rPr lang="ru-RU" dirty="0"/>
              <a:t>М</a:t>
            </a:r>
            <a:r>
              <a:rPr lang="en-US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883E27-9D23-31D1-C4BD-58C4A768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5" y="1000877"/>
            <a:ext cx="5344026" cy="22522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377E8C-D97B-CE29-6536-AD9D49DEC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5" y="3864632"/>
            <a:ext cx="7079081" cy="26687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A96EC8-75D5-5DB5-9716-28E563924361}"/>
              </a:ext>
            </a:extLst>
          </p:cNvPr>
          <p:cNvSpPr txBox="1"/>
          <p:nvPr/>
        </p:nvSpPr>
        <p:spPr>
          <a:xfrm>
            <a:off x="6351170" y="1504660"/>
            <a:ext cx="6097002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Пример: клиент и его заказы</a:t>
            </a:r>
            <a:endParaRPr lang="ru-RU" sz="15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54351-D713-2CD6-7779-292D7DAD7F90}"/>
              </a:ext>
            </a:extLst>
          </p:cNvPr>
          <p:cNvSpPr txBox="1"/>
          <p:nvPr/>
        </p:nvSpPr>
        <p:spPr>
          <a:xfrm>
            <a:off x="7720766" y="4670653"/>
            <a:ext cx="4708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orders.customer_id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не уникален — у клиента сколько угодно заказов.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1310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5B05-87DE-CC43-8413-556FC3A5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1A72-1094-59C6-7650-253F509AC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«Один ко многим» (</a:t>
            </a:r>
            <a:r>
              <a:rPr lang="en-US" dirty="0"/>
              <a:t>1:</a:t>
            </a:r>
            <a:r>
              <a:rPr lang="ru-RU" dirty="0"/>
              <a:t>М</a:t>
            </a:r>
            <a:r>
              <a:rPr lang="en-US" dirty="0"/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CB56C6-98BC-B25C-A1F2-AF8DFA760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51" y="3789446"/>
            <a:ext cx="7950218" cy="250908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7A851C-1D87-B13E-FE4B-A4D234983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320" y="1436283"/>
            <a:ext cx="318135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6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7F36-8C96-2169-5CC8-C516C884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A122-D407-F4FB-0FD9-7B40E3DC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«Многие ко многим» (М</a:t>
            </a:r>
            <a:r>
              <a:rPr lang="en-US" dirty="0"/>
              <a:t>:N)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036C6-ECEE-49B1-5088-E77D4D7350B7}"/>
              </a:ext>
            </a:extLst>
          </p:cNvPr>
          <p:cNvSpPr txBox="1"/>
          <p:nvPr/>
        </p:nvSpPr>
        <p:spPr>
          <a:xfrm>
            <a:off x="288760" y="1177260"/>
            <a:ext cx="10984830" cy="527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Определение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одной записи в таблице A может соответствовать множество записей в таблице B, и наоборот.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Реализация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Напрямую в реляционной модели не реализуется.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Создается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третья (связующая, промежуточная) таблица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которая содержит внешние ключи обеих таблиц.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Первичный ключ связующей таблицы обычно составляется из этих двух внешних ключей (составной первичный ключ), что предотвращает дублирование пар.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При необходимости в связующую таблицу добавляются дополнительные атрибуты (например, дата, количество, роль).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Пример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 таблица «Студенты» и таблица «Дисциплины». Один студент изучает много дисциплин, одну дисциплину изучают многие студенты. Связующая таблица — «Оценки» с полями {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ID_студента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ID_дисциплины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Оценка, Дата}.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319506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38C9-B946-3B68-5297-50D15F92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B461-E3CD-E756-F658-42BF7651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«Многие ко многим» (М</a:t>
            </a:r>
            <a:r>
              <a:rPr lang="en-US" dirty="0"/>
              <a:t>:N)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32AC57-770C-107F-F341-AAFC217A3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31" y="783557"/>
            <a:ext cx="6767818" cy="34094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7EA23A-BEE7-4596-0616-2AF8B78D323E}"/>
              </a:ext>
            </a:extLst>
          </p:cNvPr>
          <p:cNvSpPr txBox="1"/>
          <p:nvPr/>
        </p:nvSpPr>
        <p:spPr>
          <a:xfrm>
            <a:off x="1081338" y="6261856"/>
            <a:ext cx="6097002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Пример: студенты и курсы (чистая M:N)</a:t>
            </a:r>
            <a:endParaRPr lang="ru-RU" sz="15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DD6344-DB29-BFD7-BFB1-E20480111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125" y="4388518"/>
            <a:ext cx="601027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41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188E-F053-6ED1-B361-31D4005E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42F5-68C8-1099-6F8B-0EE0B196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Связь «Многие ко многим» (М</a:t>
            </a:r>
            <a:r>
              <a:rPr lang="en-US" dirty="0"/>
              <a:t>:N)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3FB753-8E6E-C608-02DB-48FC0788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96" y="734339"/>
            <a:ext cx="5890051" cy="24304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B6222E-C5D5-F047-18EB-01B71F353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06" y="3325728"/>
            <a:ext cx="67151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6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6C5B-4B24-A227-A8C7-668203F2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94017-A830-0C71-4346-486C5C3D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Итого: сравнение трех видов связей</a:t>
            </a:r>
            <a:endParaRPr lang="en-US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A72CE9A-737B-51A8-FE8A-C0DD5C09D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29038"/>
              </p:ext>
            </p:extLst>
          </p:nvPr>
        </p:nvGraphicFramePr>
        <p:xfrm>
          <a:off x="561474" y="1890041"/>
          <a:ext cx="10515600" cy="24361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285">
                  <a:extLst>
                    <a:ext uri="{9D8B030D-6E8A-4147-A177-3AD203B41FA5}">
                      <a16:colId xmlns:a16="http://schemas.microsoft.com/office/drawing/2014/main" val="1302947094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1244899628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2211732031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190551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1:1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1:M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M:N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64750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Где FK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В дочерней таблице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В дочерней (много) таблице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В связующей таблице (два FK)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76960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Ограничение на FK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PRIMARY KEY</a:t>
                      </a:r>
                      <a:r>
                        <a:rPr lang="ru-RU" sz="1125">
                          <a:effectLst/>
                        </a:rPr>
                        <a:t> или </a:t>
                      </a:r>
                      <a:r>
                        <a:rPr lang="ru-RU" sz="975">
                          <a:effectLst/>
                        </a:rPr>
                        <a:t>UNIQUE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Без </a:t>
                      </a:r>
                      <a:r>
                        <a:rPr lang="ru-RU" sz="975">
                          <a:effectLst/>
                        </a:rPr>
                        <a:t>UNIQUE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Без </a:t>
                      </a:r>
                      <a:r>
                        <a:rPr lang="ru-RU" sz="975">
                          <a:effectLst/>
                        </a:rPr>
                        <a:t>UNIQUE</a:t>
                      </a:r>
                      <a:r>
                        <a:rPr lang="ru-RU" sz="1125">
                          <a:effectLst/>
                        </a:rPr>
                        <a:t> по отдельности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2487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Кол-во строк связи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0 или 1 на родителя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0..N на родителя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0..N в обе стороны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3262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Типичный пример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Сотрудник — пропуск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Клиент — заказы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Студент — курсы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64034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Доп. атрибуты связи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Не нужны (это 1:1)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Не нужны (живут в дочерней)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Живут в связующей таблице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7653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667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89E4-A2D8-FED5-34ED-1DB94CFB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0C22-34DA-B635-68F7-1A8636BB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664797"/>
          </a:xfrm>
        </p:spPr>
        <p:txBody>
          <a:bodyPr/>
          <a:lstStyle/>
          <a:p>
            <a:r>
              <a:rPr lang="ru-RU" dirty="0"/>
              <a:t>Материал к лабораторной работе №</a:t>
            </a:r>
            <a:r>
              <a:rPr lang="en-US" dirty="0"/>
              <a:t>2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D5C09-01A3-1CFC-D0AA-91643CB77D36}"/>
              </a:ext>
            </a:extLst>
          </p:cNvPr>
          <p:cNvSpPr txBox="1"/>
          <p:nvPr/>
        </p:nvSpPr>
        <p:spPr>
          <a:xfrm>
            <a:off x="744454" y="792245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CREATE DATABASE lab2;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128BD-C89E-97CB-CB1E-8C79F6614D88}"/>
              </a:ext>
            </a:extLst>
          </p:cNvPr>
          <p:cNvSpPr txBox="1"/>
          <p:nvPr/>
        </p:nvSpPr>
        <p:spPr>
          <a:xfrm>
            <a:off x="353427" y="1643368"/>
            <a:ext cx="6097002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Лабораторная имитирует базу данных университета. В ней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пять таблиц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студенты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преподаватели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courses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курсы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записи студентов на курсы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grades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оценки студентов по курсам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064AC-CE88-C92E-8203-A96D9D1775D7}"/>
              </a:ext>
            </a:extLst>
          </p:cNvPr>
          <p:cNvSpPr txBox="1"/>
          <p:nvPr/>
        </p:nvSpPr>
        <p:spPr>
          <a:xfrm>
            <a:off x="7999496" y="1808383"/>
            <a:ext cx="2943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Схема связей: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03BA8-EF5B-28ED-2568-D23C8954324C}"/>
              </a:ext>
            </a:extLst>
          </p:cNvPr>
          <p:cNvSpPr txBox="1"/>
          <p:nvPr/>
        </p:nvSpPr>
        <p:spPr>
          <a:xfrm>
            <a:off x="5863892" y="2659506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teachers</a:t>
            </a:r>
            <a:r>
              <a:rPr lang="ru-RU" dirty="0"/>
              <a:t> (1) ───&lt; </a:t>
            </a:r>
            <a:r>
              <a:rPr lang="ru-RU" dirty="0" err="1"/>
              <a:t>courses</a:t>
            </a:r>
            <a:r>
              <a:rPr lang="ru-RU" dirty="0"/>
              <a:t> (1) ───&lt; </a:t>
            </a:r>
            <a:r>
              <a:rPr lang="ru-RU" dirty="0" err="1"/>
              <a:t>enrollments</a:t>
            </a:r>
            <a:r>
              <a:rPr lang="ru-RU" dirty="0"/>
              <a:t> &gt;─── (1) </a:t>
            </a:r>
            <a:r>
              <a:rPr lang="ru-RU" dirty="0" err="1"/>
              <a:t>students</a:t>
            </a:r>
            <a:endParaRPr lang="ru-RU" dirty="0"/>
          </a:p>
          <a:p>
            <a:r>
              <a:rPr lang="ru-RU" dirty="0"/>
              <a:t>                                          │</a:t>
            </a:r>
          </a:p>
          <a:p>
            <a:r>
              <a:rPr lang="ru-RU" dirty="0"/>
              <a:t>                                          └───&lt; </a:t>
            </a:r>
            <a:r>
              <a:rPr lang="ru-RU" dirty="0" err="1"/>
              <a:t>grades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D1DA2-2BF3-B268-1B3B-80AD727A1A47}"/>
              </a:ext>
            </a:extLst>
          </p:cNvPr>
          <p:cNvSpPr txBox="1"/>
          <p:nvPr/>
        </p:nvSpPr>
        <p:spPr>
          <a:xfrm>
            <a:off x="5533022" y="4010456"/>
            <a:ext cx="6658978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Один преподаватель ведёт несколько курсов.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На один курс записано много студентов (через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Один студент может быть записан на много курсов.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У каждого студента по каждому курсу может быть одна или несколько оценок.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821556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1FB20-A190-61C3-7D30-D1243071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47F9-1224-8379-3B17-B255C199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Материал к лабораторной работе №2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46684-FE5E-C78D-13C9-492E440F98D6}"/>
              </a:ext>
            </a:extLst>
          </p:cNvPr>
          <p:cNvSpPr txBox="1"/>
          <p:nvPr/>
        </p:nvSpPr>
        <p:spPr>
          <a:xfrm>
            <a:off x="365459" y="1058232"/>
            <a:ext cx="36952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-- Преподаватели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teachers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full_name</a:t>
            </a:r>
            <a:r>
              <a:rPr lang="ru-RU" sz="600" dirty="0"/>
              <a:t>   VARCHAR(150)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department</a:t>
            </a:r>
            <a:r>
              <a:rPr lang="ru-RU" sz="600" dirty="0"/>
              <a:t>  VARCHAR(100)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hire_date</a:t>
            </a:r>
            <a:r>
              <a:rPr lang="ru-RU" sz="600" dirty="0"/>
              <a:t>   DATE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salary</a:t>
            </a:r>
            <a:r>
              <a:rPr lang="ru-RU" sz="600" dirty="0"/>
              <a:t>      NUMERIC(10, 2) NOT NULL CHECK (</a:t>
            </a:r>
            <a:r>
              <a:rPr lang="ru-RU" sz="600" dirty="0" err="1"/>
              <a:t>salary</a:t>
            </a:r>
            <a:r>
              <a:rPr lang="ru-RU" sz="600" dirty="0"/>
              <a:t> &gt; 0)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Студенты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students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full_name</a:t>
            </a:r>
            <a:r>
              <a:rPr lang="ru-RU" sz="600" dirty="0"/>
              <a:t>    VARCHAR(150)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birth_date</a:t>
            </a:r>
            <a:r>
              <a:rPr lang="ru-RU" sz="600" dirty="0"/>
              <a:t>   DATE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city</a:t>
            </a:r>
            <a:r>
              <a:rPr lang="ru-RU" sz="600" dirty="0"/>
              <a:t>         VARCHAR(100)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email</a:t>
            </a:r>
            <a:r>
              <a:rPr lang="ru-RU" sz="600" dirty="0"/>
              <a:t>        VARCHAR(150) UNIQUE,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enrolled_at</a:t>
            </a:r>
            <a:r>
              <a:rPr lang="ru-RU" sz="600" dirty="0"/>
              <a:t>  DATE NOT NULL DEFAULT CURRENT_DATE,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is_active</a:t>
            </a:r>
            <a:r>
              <a:rPr lang="ru-RU" sz="600" dirty="0"/>
              <a:t>    BOOLEAN NOT NULL DEFAULT TRUE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Курсы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courses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title</a:t>
            </a:r>
            <a:r>
              <a:rPr lang="ru-RU" sz="600" dirty="0"/>
              <a:t>        VARCHAR(200)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teacher_id</a:t>
            </a:r>
            <a:r>
              <a:rPr lang="ru-RU" sz="600" dirty="0"/>
              <a:t>   INT NOT NULL REFERENCES </a:t>
            </a:r>
            <a:r>
              <a:rPr lang="ru-RU" sz="600" dirty="0" err="1"/>
              <a:t>teachers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RESTRICT,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credits</a:t>
            </a:r>
            <a:r>
              <a:rPr lang="ru-RU" sz="600" dirty="0"/>
              <a:t>      INT NOT NULL CHECK (</a:t>
            </a:r>
            <a:r>
              <a:rPr lang="ru-RU" sz="600" dirty="0" err="1"/>
              <a:t>credits</a:t>
            </a:r>
            <a:r>
              <a:rPr lang="ru-RU" sz="600" dirty="0"/>
              <a:t> BETWEEN 1 AND 10),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year</a:t>
            </a:r>
            <a:r>
              <a:rPr lang="ru-RU" sz="600" dirty="0"/>
              <a:t>         INT NOT NULL CHECK (</a:t>
            </a:r>
            <a:r>
              <a:rPr lang="ru-RU" sz="600" dirty="0" err="1"/>
              <a:t>year</a:t>
            </a:r>
            <a:r>
              <a:rPr lang="ru-RU" sz="600" dirty="0"/>
              <a:t> BETWEEN 2000 AND 2100),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is_elective</a:t>
            </a:r>
            <a:r>
              <a:rPr lang="ru-RU" sz="600" dirty="0"/>
              <a:t>  BOOLEAN NOT NULL DEFAULT FALSE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Записи студентов на курсы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enrollments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student_id</a:t>
            </a:r>
            <a:r>
              <a:rPr lang="ru-RU" sz="600" dirty="0"/>
              <a:t>   INT NOT NULL REFERENCES </a:t>
            </a:r>
            <a:r>
              <a:rPr lang="ru-RU" sz="600" dirty="0" err="1"/>
              <a:t>students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CASCADE,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course_id</a:t>
            </a:r>
            <a:r>
              <a:rPr lang="ru-RU" sz="600" dirty="0"/>
              <a:t>    INT NOT NULL REFERENCES </a:t>
            </a:r>
            <a:r>
              <a:rPr lang="ru-RU" sz="600" dirty="0" err="1"/>
              <a:t>courses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CASCADE,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enrolled_on</a:t>
            </a:r>
            <a:r>
              <a:rPr lang="ru-RU" sz="600" dirty="0"/>
              <a:t>  DATE NOT NULL DEFAULT CURRENT_DATE,</a:t>
            </a:r>
          </a:p>
          <a:p>
            <a:r>
              <a:rPr lang="ru-RU" sz="600" dirty="0"/>
              <a:t>    UNIQUE (</a:t>
            </a:r>
            <a:r>
              <a:rPr lang="ru-RU" sz="600" dirty="0" err="1"/>
              <a:t>student_id</a:t>
            </a:r>
            <a:r>
              <a:rPr lang="ru-RU" sz="600" dirty="0"/>
              <a:t>, </a:t>
            </a:r>
            <a:r>
              <a:rPr lang="ru-RU" sz="600" dirty="0" err="1"/>
              <a:t>course_id</a:t>
            </a:r>
            <a:r>
              <a:rPr lang="ru-RU" sz="600" dirty="0"/>
              <a:t>)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Оценки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grades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enrollment_id</a:t>
            </a:r>
            <a:r>
              <a:rPr lang="ru-RU" sz="600" dirty="0"/>
              <a:t>  INT NOT NULL REFERENCES </a:t>
            </a:r>
            <a:r>
              <a:rPr lang="ru-RU" sz="600" dirty="0" err="1"/>
              <a:t>enrollments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CASCADE,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grade</a:t>
            </a:r>
            <a:r>
              <a:rPr lang="ru-RU" sz="600" dirty="0"/>
              <a:t>          INT NOT NULL CHECK (</a:t>
            </a:r>
            <a:r>
              <a:rPr lang="ru-RU" sz="600" dirty="0" err="1"/>
              <a:t>grade</a:t>
            </a:r>
            <a:r>
              <a:rPr lang="ru-RU" sz="600" dirty="0"/>
              <a:t> BETWEEN 2 AND 5),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graded_on</a:t>
            </a:r>
            <a:r>
              <a:rPr lang="ru-RU" sz="600" dirty="0"/>
              <a:t>      DATE NOT NULL DEFAULT CURRENT_DATE,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comment</a:t>
            </a:r>
            <a:r>
              <a:rPr lang="ru-RU" sz="600" dirty="0"/>
              <a:t>        TEXT</a:t>
            </a:r>
          </a:p>
          <a:p>
            <a:r>
              <a:rPr lang="ru-RU" sz="600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36FCD-CC87-0B93-AE0F-39492ADE1482}"/>
              </a:ext>
            </a:extLst>
          </p:cNvPr>
          <p:cNvSpPr txBox="1"/>
          <p:nvPr/>
        </p:nvSpPr>
        <p:spPr>
          <a:xfrm>
            <a:off x="3783904" y="906120"/>
            <a:ext cx="6097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INSERT INTO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full_name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department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hire_date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salary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) VALUES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('Иванов Пётр Сергеевич',      'Математика',      '2010-09-01', 95000.00),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('Петрова Анна Викторовна',    'Информатика',     '2013-02-15', 110000.00),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('Сидоров Николай Иванович',   'Физика',          '2008-03-10', 105000.00),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('Кузнецова Ольга Дмитриевна', 'Информатика',     '2015-09-01', 98000.00),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('Смирнов Алексей Петрович',   'Математика',      '2018-09-01', 87000.00),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('Морозова Елена Андреевна',   'Лингвистика',     '2012-11-20', 92000.00),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('Волков Дмитрий Олегович',    'Физика',          '2020-09-01', 78000.00),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('Никитина Светлана Юрьевна',  'Информатика',     '2016-04-05', 101000.00);</a:t>
            </a:r>
            <a:endParaRPr lang="ru-RU" sz="600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79432-F3B0-A714-1FC8-FAF9700F3EAA}"/>
              </a:ext>
            </a:extLst>
          </p:cNvPr>
          <p:cNvSpPr txBox="1"/>
          <p:nvPr/>
        </p:nvSpPr>
        <p:spPr>
          <a:xfrm>
            <a:off x="3783904" y="1867362"/>
            <a:ext cx="44216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students</a:t>
            </a:r>
            <a:r>
              <a:rPr lang="ru-RU" sz="600" dirty="0"/>
              <a:t> (</a:t>
            </a:r>
            <a:r>
              <a:rPr lang="ru-RU" sz="600" dirty="0" err="1"/>
              <a:t>full_name</a:t>
            </a:r>
            <a:r>
              <a:rPr lang="ru-RU" sz="600" dirty="0"/>
              <a:t>, </a:t>
            </a:r>
            <a:r>
              <a:rPr lang="ru-RU" sz="600" dirty="0" err="1"/>
              <a:t>birth_date</a:t>
            </a:r>
            <a:r>
              <a:rPr lang="ru-RU" sz="600" dirty="0"/>
              <a:t>, </a:t>
            </a:r>
            <a:r>
              <a:rPr lang="ru-RU" sz="600" dirty="0" err="1"/>
              <a:t>city</a:t>
            </a:r>
            <a:r>
              <a:rPr lang="ru-RU" sz="600" dirty="0"/>
              <a:t>, </a:t>
            </a:r>
            <a:r>
              <a:rPr lang="ru-RU" sz="600" dirty="0" err="1"/>
              <a:t>email</a:t>
            </a:r>
            <a:r>
              <a:rPr lang="ru-RU" sz="600" dirty="0"/>
              <a:t>, </a:t>
            </a:r>
            <a:r>
              <a:rPr lang="ru-RU" sz="600" dirty="0" err="1"/>
              <a:t>enrolled_at</a:t>
            </a:r>
            <a:r>
              <a:rPr lang="ru-RU" sz="600" dirty="0"/>
              <a:t>, </a:t>
            </a:r>
            <a:r>
              <a:rPr lang="ru-RU" sz="600" dirty="0" err="1"/>
              <a:t>is_active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('Анна Соколова',        '2003-05-12', 'Москва',           'anna.sokolova@example.com',  '2021-09-01', TRUE),</a:t>
            </a:r>
          </a:p>
          <a:p>
            <a:r>
              <a:rPr lang="ru-RU" sz="600" dirty="0"/>
              <a:t>    ('Иван Кузнецов',        '2002-11-30', 'Санкт-Петербург',  'ivan.kuznetsov@example.com','2020-09-01', TRUE),</a:t>
            </a:r>
          </a:p>
          <a:p>
            <a:r>
              <a:rPr lang="ru-RU" sz="600" dirty="0"/>
              <a:t>    ('Мария Лебедева',       '2004-02-18', 'Москва',           'maria.lebedeva@example.com','2022-09-01', TRUE),</a:t>
            </a:r>
          </a:p>
          <a:p>
            <a:r>
              <a:rPr lang="ru-RU" sz="600" dirty="0"/>
              <a:t>    ('Дмитрий Орлов',        '2001-07-05', 'Казань',           'dmitry.orlov@example.com',  '2019-09-01', FALSE),</a:t>
            </a:r>
          </a:p>
          <a:p>
            <a:r>
              <a:rPr lang="ru-RU" sz="600" dirty="0"/>
              <a:t>    ('Екатерина Новикова',   '2003-09-22', 'Новосибирск',      'ekaterina.n@example.com',   '2021-09-01', TRUE),</a:t>
            </a:r>
          </a:p>
          <a:p>
            <a:r>
              <a:rPr lang="ru-RU" sz="600" dirty="0"/>
              <a:t>    ('Алексей Соловьёв',     '2002-03-14', 'Москва',           'alexey.s@example.com',      '2020-09-01', TRUE),</a:t>
            </a:r>
          </a:p>
          <a:p>
            <a:r>
              <a:rPr lang="ru-RU" sz="600" dirty="0"/>
              <a:t>    ('Ольга Морозова',       '2004-12-01', 'Екатеринбург',     'olga.morozova@example.com', '2022-09-01', TRUE),</a:t>
            </a:r>
          </a:p>
          <a:p>
            <a:r>
              <a:rPr lang="ru-RU" sz="600" dirty="0"/>
              <a:t>    ('Сергей Павлов',        '2003-08-19', 'Казань',           NULL,                        '2021-09-01', TRUE),</a:t>
            </a:r>
          </a:p>
          <a:p>
            <a:r>
              <a:rPr lang="ru-RU" sz="600" dirty="0"/>
              <a:t>    ('Татьяна Захарова',     '2002-06-27', 'Санкт-Петербург',  'tatyana.z@example.com',     '2020-09-01', FALSE),</a:t>
            </a:r>
          </a:p>
          <a:p>
            <a:r>
              <a:rPr lang="ru-RU" sz="600" dirty="0"/>
              <a:t>    ('Никита Волков',        '2005-01-09', 'Москва',           'nikita.volkov@example.com', '2023-09-01', TRUE),</a:t>
            </a:r>
          </a:p>
          <a:p>
            <a:r>
              <a:rPr lang="ru-RU" sz="600" dirty="0"/>
              <a:t>    ('Юлия Романова',        '2004-04-16', 'Новосибирск',      'yulia.romanova@example.com','2022-09-01', TRUE),</a:t>
            </a:r>
          </a:p>
          <a:p>
            <a:r>
              <a:rPr lang="ru-RU" sz="600" dirty="0"/>
              <a:t>    ('Артём Фёдоров',        '2003-10-03', 'Екатеринбург',     'artem.f@example.com',       '2021-09-01', TRUE),</a:t>
            </a:r>
          </a:p>
          <a:p>
            <a:r>
              <a:rPr lang="ru-RU" sz="600" dirty="0"/>
              <a:t>    ('Ксения Белова',        '2002-02-11', 'Казань',           'ksenia.b@example.com',      '2020-09-01', TRUE),</a:t>
            </a:r>
          </a:p>
          <a:p>
            <a:r>
              <a:rPr lang="ru-RU" sz="600" dirty="0"/>
              <a:t>    ('Роман Тимофеев',       '2005-07-21', 'Санкт-Петербург',  'roman.t@example.com',       '2023-09-01', TRUE),</a:t>
            </a:r>
          </a:p>
          <a:p>
            <a:r>
              <a:rPr lang="ru-RU" sz="600" dirty="0"/>
              <a:t>    ('Алина Гусева',         '2004-11-08', 'Москва',           'alina.guseva@example.com',  '2022-09-01', TRUE);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E611B-5CB3-BAEF-81F7-4B06023DA203}"/>
              </a:ext>
            </a:extLst>
          </p:cNvPr>
          <p:cNvSpPr txBox="1"/>
          <p:nvPr/>
        </p:nvSpPr>
        <p:spPr>
          <a:xfrm>
            <a:off x="3704222" y="3534609"/>
            <a:ext cx="43148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students</a:t>
            </a:r>
            <a:r>
              <a:rPr lang="ru-RU" sz="600" dirty="0"/>
              <a:t> (</a:t>
            </a:r>
            <a:r>
              <a:rPr lang="ru-RU" sz="600" dirty="0" err="1"/>
              <a:t>full_name</a:t>
            </a:r>
            <a:r>
              <a:rPr lang="ru-RU" sz="600" dirty="0"/>
              <a:t>, </a:t>
            </a:r>
            <a:r>
              <a:rPr lang="ru-RU" sz="600" dirty="0" err="1"/>
              <a:t>birth_date</a:t>
            </a:r>
            <a:r>
              <a:rPr lang="ru-RU" sz="600" dirty="0"/>
              <a:t>, </a:t>
            </a:r>
            <a:r>
              <a:rPr lang="ru-RU" sz="600" dirty="0" err="1"/>
              <a:t>city</a:t>
            </a:r>
            <a:r>
              <a:rPr lang="ru-RU" sz="600" dirty="0"/>
              <a:t>, </a:t>
            </a:r>
            <a:r>
              <a:rPr lang="ru-RU" sz="600" dirty="0" err="1"/>
              <a:t>email</a:t>
            </a:r>
            <a:r>
              <a:rPr lang="ru-RU" sz="600" dirty="0"/>
              <a:t>, </a:t>
            </a:r>
            <a:r>
              <a:rPr lang="ru-RU" sz="600" dirty="0" err="1"/>
              <a:t>enrolled_at</a:t>
            </a:r>
            <a:r>
              <a:rPr lang="ru-RU" sz="600" dirty="0"/>
              <a:t>, </a:t>
            </a:r>
            <a:r>
              <a:rPr lang="ru-RU" sz="600" dirty="0" err="1"/>
              <a:t>is_active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('Анна Соколова',        '2003-05-12', 'Москва',           'anna.sokolova@example.com',  '2021-09-01', TRUE),</a:t>
            </a:r>
          </a:p>
          <a:p>
            <a:r>
              <a:rPr lang="ru-RU" sz="600" dirty="0"/>
              <a:t>    ('Иван Кузнецов',        '2002-11-30', 'Санкт-Петербург',  'ivan.kuznetsov@example.com','2020-09-01', TRUE),</a:t>
            </a:r>
          </a:p>
          <a:p>
            <a:r>
              <a:rPr lang="ru-RU" sz="600" dirty="0"/>
              <a:t>    ('Мария Лебедева',       '2004-02-18', 'Москва',           'maria.lebedeva@example.com','2022-09-01', TRUE),</a:t>
            </a:r>
          </a:p>
          <a:p>
            <a:r>
              <a:rPr lang="ru-RU" sz="600" dirty="0"/>
              <a:t>    ('Дмитрий Орлов',        '2001-07-05', 'Казань',           'dmitry.orlov@example.com',  '2019-09-01', FALSE),</a:t>
            </a:r>
          </a:p>
          <a:p>
            <a:r>
              <a:rPr lang="ru-RU" sz="600" dirty="0"/>
              <a:t>    ('Екатерина Новикова',   '2003-09-22', 'Новосибирск',      'ekaterina.n@example.com',   '2021-09-01', TRUE),</a:t>
            </a:r>
          </a:p>
          <a:p>
            <a:r>
              <a:rPr lang="ru-RU" sz="600" dirty="0"/>
              <a:t>    ('Алексей Соловьёв',     '2002-03-14', 'Москва',           'alexey.s@example.com',      '2020-09-01', TRUE),</a:t>
            </a:r>
          </a:p>
          <a:p>
            <a:r>
              <a:rPr lang="ru-RU" sz="600" dirty="0"/>
              <a:t>    ('Ольга Морозова',       '2004-12-01', 'Екатеринбург',     'olga.morozova@example.com', '2022-09-01', TRUE),</a:t>
            </a:r>
          </a:p>
          <a:p>
            <a:r>
              <a:rPr lang="ru-RU" sz="600" dirty="0"/>
              <a:t>    ('Сергей Павлов',        '2003-08-19', 'Казань',           NULL,                        '2021-09-01', TRUE),</a:t>
            </a:r>
          </a:p>
          <a:p>
            <a:r>
              <a:rPr lang="ru-RU" sz="600" dirty="0"/>
              <a:t>    ('Татьяна Захарова',     '2002-06-27', 'Санкт-Петербург',  'tatyana.z@example.com',     '2020-09-01', FALSE),</a:t>
            </a:r>
          </a:p>
          <a:p>
            <a:r>
              <a:rPr lang="ru-RU" sz="600" dirty="0"/>
              <a:t>    ('Никита Волков',        '2005-01-09', 'Москва',           'nikita.volkov@example.com', '2023-09-01', TRUE),</a:t>
            </a:r>
          </a:p>
          <a:p>
            <a:r>
              <a:rPr lang="ru-RU" sz="600" dirty="0"/>
              <a:t>    ('Юлия Романова',        '2004-04-16', 'Новосибирск',      'yulia.romanova@example.com','2022-09-01', TRUE),</a:t>
            </a:r>
          </a:p>
          <a:p>
            <a:r>
              <a:rPr lang="ru-RU" sz="600" dirty="0"/>
              <a:t>    ('Артём Фёдоров',        '2003-10-03', 'Екатеринбург',     'artem.f@example.com',       '2021-09-01', TRUE),</a:t>
            </a:r>
          </a:p>
          <a:p>
            <a:r>
              <a:rPr lang="ru-RU" sz="600" dirty="0"/>
              <a:t>    ('Ксения Белова',        '2002-02-11', 'Казань',           'ksenia.b@example.com',      '2020-09-01', TRUE),</a:t>
            </a:r>
          </a:p>
          <a:p>
            <a:r>
              <a:rPr lang="ru-RU" sz="600" dirty="0"/>
              <a:t>    ('Роман Тимофеев',       '2005-07-21', 'Санкт-Петербург',  'roman.t@example.com',       '2023-09-01', TRUE),</a:t>
            </a:r>
          </a:p>
          <a:p>
            <a:r>
              <a:rPr lang="ru-RU" sz="600" dirty="0"/>
              <a:t>    ('Алина Гусева',         '2004-11-08', 'Москва',           'alina.guseva@example.com',  '2022-09-01', TRUE);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CD562E-7CF3-0EBC-4F74-26F2FD963802}"/>
              </a:ext>
            </a:extLst>
          </p:cNvPr>
          <p:cNvSpPr txBox="1"/>
          <p:nvPr/>
        </p:nvSpPr>
        <p:spPr>
          <a:xfrm>
            <a:off x="3618483" y="5201856"/>
            <a:ext cx="33522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courses</a:t>
            </a:r>
            <a:r>
              <a:rPr lang="ru-RU" sz="600" dirty="0"/>
              <a:t> (</a:t>
            </a:r>
            <a:r>
              <a:rPr lang="ru-RU" sz="600" dirty="0" err="1"/>
              <a:t>title</a:t>
            </a:r>
            <a:r>
              <a:rPr lang="ru-RU" sz="600" dirty="0"/>
              <a:t>, </a:t>
            </a:r>
            <a:r>
              <a:rPr lang="ru-RU" sz="600" dirty="0" err="1"/>
              <a:t>teacher_id</a:t>
            </a:r>
            <a:r>
              <a:rPr lang="ru-RU" sz="600" dirty="0"/>
              <a:t>, </a:t>
            </a:r>
            <a:r>
              <a:rPr lang="ru-RU" sz="600" dirty="0" err="1"/>
              <a:t>credits</a:t>
            </a:r>
            <a:r>
              <a:rPr lang="ru-RU" sz="600" dirty="0"/>
              <a:t>, </a:t>
            </a:r>
            <a:r>
              <a:rPr lang="ru-RU" sz="600" dirty="0" err="1"/>
              <a:t>year</a:t>
            </a:r>
            <a:r>
              <a:rPr lang="ru-RU" sz="600" dirty="0"/>
              <a:t>, </a:t>
            </a:r>
            <a:r>
              <a:rPr lang="ru-RU" sz="600" dirty="0" err="1"/>
              <a:t>is_elective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('Математический анализ',        1, 6, 2023, FALSE),</a:t>
            </a:r>
          </a:p>
          <a:p>
            <a:r>
              <a:rPr lang="ru-RU" sz="600" dirty="0"/>
              <a:t>    ('Линейная алгебра',             1, 4, 2023, FALSE),</a:t>
            </a:r>
          </a:p>
          <a:p>
            <a:r>
              <a:rPr lang="ru-RU" sz="600" dirty="0"/>
              <a:t>    ('Основы программирования',      2, 6, 2023, FALSE),</a:t>
            </a:r>
          </a:p>
          <a:p>
            <a:r>
              <a:rPr lang="ru-RU" sz="600" dirty="0"/>
              <a:t>    ('Базы данных',                  2, 5, 2023, TRUE),</a:t>
            </a:r>
          </a:p>
          <a:p>
            <a:r>
              <a:rPr lang="ru-RU" sz="600" dirty="0"/>
              <a:t>    ('Веб-разработка',               4, 4, 2023, TRUE),</a:t>
            </a:r>
          </a:p>
          <a:p>
            <a:r>
              <a:rPr lang="ru-RU" sz="600" dirty="0"/>
              <a:t>    ('Общая физика',                 3, 6, 2023, FALSE),</a:t>
            </a:r>
          </a:p>
          <a:p>
            <a:r>
              <a:rPr lang="ru-RU" sz="600" dirty="0"/>
              <a:t>    ('Квантовая механика',           7, 5, 2024, TRUE),</a:t>
            </a:r>
          </a:p>
          <a:p>
            <a:r>
              <a:rPr lang="ru-RU" sz="600" dirty="0"/>
              <a:t>    ('Алгоритмы и структуры данных', 8, 6, 2023, FALSE),</a:t>
            </a:r>
          </a:p>
          <a:p>
            <a:r>
              <a:rPr lang="ru-RU" sz="600" dirty="0"/>
              <a:t>    ('Машинное обучение',            4, 5, 2024, TRUE),</a:t>
            </a:r>
          </a:p>
          <a:p>
            <a:r>
              <a:rPr lang="ru-RU" sz="600" dirty="0"/>
              <a:t>    ('Английский язык',              6, 3, 2023, FALSE),</a:t>
            </a:r>
          </a:p>
          <a:p>
            <a:r>
              <a:rPr lang="ru-RU" sz="600" dirty="0"/>
              <a:t>    ('Дискретная математика',        5, 4, 2023, FALSE),</a:t>
            </a:r>
          </a:p>
          <a:p>
            <a:r>
              <a:rPr lang="ru-RU" sz="600" dirty="0"/>
              <a:t>    ('Теория вероятностей',          5, 5, 2024, FALSE);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B3D89D-9711-38F7-D7C2-F70F05096408}"/>
              </a:ext>
            </a:extLst>
          </p:cNvPr>
          <p:cNvSpPr txBox="1"/>
          <p:nvPr/>
        </p:nvSpPr>
        <p:spPr>
          <a:xfrm>
            <a:off x="7819022" y="569021"/>
            <a:ext cx="47359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INSERT INTO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student_id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course_id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enrolled_on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) VALUES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(1, 1, '2023-09-01'), (1, 3, '2023-09-01'), (1, 4, '2023-09-05'),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(2, 1, '2023-09-01'), (2, 2, '2023-09-01'), (2, 6, 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(3, 3, '2023-09-02'), (3, 5, '2023-09-02'), (3, 8, '2023-09-02'),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(4, 1, '2023-09-01'), (4, 6, 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(5, 3, '2023-09-03'), (5, 4, '2023-09-03'), (5, 9,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(6, 1, '2023-09-01'), (6, 2, '2023-09-01'), (6, 11,'2023-09-01'),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(7, 5, '2023-09-04'), (7, 9,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(8, 3, '2023-09-05'), (8, 8, '2023-09-05'),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(9, 6, '2023-09-01'), (9, 7,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(10, 3, '2023-09-06'), (10, 5, '2023-09-06'), (10, 9,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(11, 4, '2023-09-07'), (11, 8, '2023-09-07'),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(12, 1, '2023-09-01'), (12, 2, '2023-09-01'), (12, 12,'2024-02-01'),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(13, 6, '2023-09-01'), (13, 10,'2023-09-01'),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(14, 3, '2023-09-08'), (14, 5, '2023-09-08'),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(15, 4, '2023-09-09'), (15, 9, '2024-02-01'), (15, 10,'2023-09-09');</a:t>
            </a:r>
            <a:endParaRPr lang="ru-RU" sz="600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547584-8C11-53E0-5031-EC6330E6F26C}"/>
              </a:ext>
            </a:extLst>
          </p:cNvPr>
          <p:cNvSpPr txBox="1"/>
          <p:nvPr/>
        </p:nvSpPr>
        <p:spPr>
          <a:xfrm>
            <a:off x="8131343" y="2565112"/>
            <a:ext cx="400200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grades</a:t>
            </a:r>
            <a:r>
              <a:rPr lang="ru-RU" sz="600" dirty="0"/>
              <a:t> (</a:t>
            </a:r>
            <a:r>
              <a:rPr lang="ru-RU" sz="600" dirty="0" err="1"/>
              <a:t>enrollment_id</a:t>
            </a:r>
            <a:r>
              <a:rPr lang="ru-RU" sz="600" dirty="0"/>
              <a:t>, </a:t>
            </a:r>
            <a:r>
              <a:rPr lang="ru-RU" sz="600" dirty="0" err="1"/>
              <a:t>grade</a:t>
            </a:r>
            <a:r>
              <a:rPr lang="ru-RU" sz="600" dirty="0"/>
              <a:t>, </a:t>
            </a:r>
            <a:r>
              <a:rPr lang="ru-RU" sz="600" dirty="0" err="1"/>
              <a:t>graded_on</a:t>
            </a:r>
            <a:r>
              <a:rPr lang="ru-RU" sz="600" dirty="0"/>
              <a:t>, </a:t>
            </a:r>
            <a:r>
              <a:rPr lang="ru-RU" sz="600" dirty="0" err="1"/>
              <a:t>comment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(1,  5, '2024-01-15', 'Отличная работа'),</a:t>
            </a:r>
          </a:p>
          <a:p>
            <a:r>
              <a:rPr lang="ru-RU" sz="600" dirty="0"/>
              <a:t>    (2,  4, '2024-01-20', NULL),</a:t>
            </a:r>
          </a:p>
          <a:p>
            <a:r>
              <a:rPr lang="ru-RU" sz="600" dirty="0"/>
              <a:t>    (3,  5, '2024-01-25', 'Лучший проект в группе'),</a:t>
            </a:r>
          </a:p>
          <a:p>
            <a:r>
              <a:rPr lang="ru-RU" sz="600" dirty="0"/>
              <a:t>    (4,  4, '2024-01-15', NULL),</a:t>
            </a:r>
          </a:p>
          <a:p>
            <a:r>
              <a:rPr lang="ru-RU" sz="600" dirty="0"/>
              <a:t>    (5,  3, '2024-01-16', 'Требуется доработка'),</a:t>
            </a:r>
          </a:p>
          <a:p>
            <a:r>
              <a:rPr lang="ru-RU" sz="600" dirty="0"/>
              <a:t>    (6,  5, '2024-01-17', NULL),</a:t>
            </a:r>
          </a:p>
          <a:p>
            <a:r>
              <a:rPr lang="ru-RU" sz="600" dirty="0"/>
              <a:t>    (7,  5, '2024-01-18', NULL),</a:t>
            </a:r>
          </a:p>
          <a:p>
            <a:r>
              <a:rPr lang="ru-RU" sz="600" dirty="0"/>
              <a:t>    (8,  4, '2024-01-19', NULL),</a:t>
            </a:r>
          </a:p>
          <a:p>
            <a:r>
              <a:rPr lang="ru-RU" sz="600" dirty="0"/>
              <a:t>    (9,  5, '2024-01-20', NULL),</a:t>
            </a:r>
          </a:p>
          <a:p>
            <a:r>
              <a:rPr lang="ru-RU" sz="600" dirty="0"/>
              <a:t>    (10, 3, '2024-01-15', 'Пропуски занятий'),</a:t>
            </a:r>
          </a:p>
          <a:p>
            <a:r>
              <a:rPr lang="ru-RU" sz="600" dirty="0"/>
              <a:t>    (11, 4, '2024-01-16', NULL),</a:t>
            </a:r>
          </a:p>
          <a:p>
            <a:r>
              <a:rPr lang="ru-RU" sz="600" dirty="0"/>
              <a:t>    (12, 5, '2024-01-18', NULL),</a:t>
            </a:r>
          </a:p>
          <a:p>
            <a:r>
              <a:rPr lang="ru-RU" sz="600" dirty="0"/>
              <a:t>    (13, 5, '2024-01-19', 'Отличный студент'),</a:t>
            </a:r>
          </a:p>
          <a:p>
            <a:r>
              <a:rPr lang="ru-RU" sz="600" dirty="0"/>
              <a:t>    (14, 4, '2024-01-20', NULL),</a:t>
            </a:r>
          </a:p>
          <a:p>
            <a:r>
              <a:rPr lang="ru-RU" sz="600" dirty="0"/>
              <a:t>    (16, 3, '2024-01-21', NULL),</a:t>
            </a:r>
          </a:p>
          <a:p>
            <a:r>
              <a:rPr lang="ru-RU" sz="600" dirty="0"/>
              <a:t>    (17, 4, '2024-01-22', NULL),</a:t>
            </a:r>
          </a:p>
          <a:p>
            <a:r>
              <a:rPr lang="ru-RU" sz="600" dirty="0"/>
              <a:t>    (18, 5, '2024-01-23', NULL),</a:t>
            </a:r>
          </a:p>
          <a:p>
            <a:r>
              <a:rPr lang="ru-RU" sz="600" dirty="0"/>
              <a:t>    (19, 4, '2024-01-24', NULL),</a:t>
            </a:r>
          </a:p>
          <a:p>
            <a:r>
              <a:rPr lang="ru-RU" sz="600" dirty="0"/>
              <a:t>    (20, 5, '2024-01-25', NULL),</a:t>
            </a:r>
          </a:p>
          <a:p>
            <a:r>
              <a:rPr lang="ru-RU" sz="600" dirty="0"/>
              <a:t>    (21, 5, '2024-01-26', 'Лучший результат'),</a:t>
            </a:r>
          </a:p>
          <a:p>
            <a:r>
              <a:rPr lang="ru-RU" sz="600" dirty="0"/>
              <a:t>    (22, 4, '2024-01-27', NULL),</a:t>
            </a:r>
          </a:p>
          <a:p>
            <a:r>
              <a:rPr lang="ru-RU" sz="600" dirty="0"/>
              <a:t>    (23, 4, '2024-01-28', NULL),</a:t>
            </a:r>
          </a:p>
          <a:p>
            <a:r>
              <a:rPr lang="ru-RU" sz="600" dirty="0"/>
              <a:t>    (24, 5, '2024-01-29', NULL),</a:t>
            </a:r>
          </a:p>
          <a:p>
            <a:r>
              <a:rPr lang="ru-RU" sz="600" dirty="0"/>
              <a:t>    (25, 3, '2024-01-30', 'Слабая подготовка'),</a:t>
            </a:r>
          </a:p>
          <a:p>
            <a:r>
              <a:rPr lang="ru-RU" sz="600" dirty="0"/>
              <a:t>    (26, 5, '2024-02-01', NULL),</a:t>
            </a:r>
          </a:p>
          <a:p>
            <a:r>
              <a:rPr lang="ru-RU" sz="600" dirty="0"/>
              <a:t>    (27, 4, '2024-02-02', NULL),</a:t>
            </a:r>
          </a:p>
          <a:p>
            <a:r>
              <a:rPr lang="ru-RU" sz="600" dirty="0"/>
              <a:t>    (28, 5, '2024-02-03', NULL),</a:t>
            </a:r>
          </a:p>
          <a:p>
            <a:r>
              <a:rPr lang="ru-RU" sz="600" dirty="0"/>
              <a:t>    (29, 4, '2024-02-04', NULL),</a:t>
            </a:r>
          </a:p>
          <a:p>
            <a:r>
              <a:rPr lang="ru-RU" sz="600" dirty="0"/>
              <a:t>    (30, 4, '2024-02-05', NULL),</a:t>
            </a:r>
          </a:p>
          <a:p>
            <a:r>
              <a:rPr lang="ru-RU" sz="600" dirty="0"/>
              <a:t>    (31, 5, '2024-02-06', NULL),</a:t>
            </a:r>
          </a:p>
          <a:p>
            <a:r>
              <a:rPr lang="ru-RU" sz="600" dirty="0"/>
              <a:t>    (32, 3, '2024-02-07', 'Не сдал вовремя'),</a:t>
            </a:r>
          </a:p>
          <a:p>
            <a:r>
              <a:rPr lang="ru-RU" sz="600" dirty="0"/>
              <a:t>    (33, 4, '2024-02-08', NULL),</a:t>
            </a:r>
          </a:p>
          <a:p>
            <a:r>
              <a:rPr lang="ru-RU" sz="600" dirty="0"/>
              <a:t>    (34, 5, '2024-02-09', NULL),</a:t>
            </a:r>
          </a:p>
          <a:p>
            <a:r>
              <a:rPr lang="ru-RU" sz="600" dirty="0"/>
              <a:t>    (35, 4, '2024-02-10', NULL),</a:t>
            </a:r>
          </a:p>
          <a:p>
            <a:r>
              <a:rPr lang="ru-RU" sz="600" dirty="0"/>
              <a:t>    (36, 5, '2024-02-11', NULL),</a:t>
            </a:r>
          </a:p>
          <a:p>
            <a:r>
              <a:rPr lang="ru-RU" sz="600" dirty="0"/>
              <a:t>    (37, 5, '2024-02-12', 'Отличная защита');</a:t>
            </a:r>
          </a:p>
        </p:txBody>
      </p:sp>
    </p:spTree>
    <p:extLst>
      <p:ext uri="{BB962C8B-B14F-4D97-AF65-F5344CB8AC3E}">
        <p14:creationId xmlns:p14="http://schemas.microsoft.com/office/powerpoint/2010/main" val="3431976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8887-C871-121A-32CB-C99CE4B1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A6DB-E105-9FCD-F886-129701F1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Материал к лабораторной работе №2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EC71F-8FB9-DC78-239C-5AED2D6527F9}"/>
              </a:ext>
            </a:extLst>
          </p:cNvPr>
          <p:cNvSpPr txBox="1"/>
          <p:nvPr/>
        </p:nvSpPr>
        <p:spPr>
          <a:xfrm>
            <a:off x="808906" y="834629"/>
            <a:ext cx="60970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Проверяем наполнение:</a:t>
            </a:r>
            <a:br>
              <a:rPr lang="ru-RU" sz="1800" b="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ru-RU" sz="18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    AS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table_name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,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courses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courses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grades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grades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20015-9EDA-A664-EAA8-96F6D7DE0B83}"/>
              </a:ext>
            </a:extLst>
          </p:cNvPr>
          <p:cNvSpPr txBox="1"/>
          <p:nvPr/>
        </p:nvSpPr>
        <p:spPr>
          <a:xfrm>
            <a:off x="1478380" y="5383996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Ожидаемый результат: 8, 15, 12, 3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8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3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6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464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52F9-AAED-AFCB-FCDF-622EB9E9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DB84-911D-1D74-464C-9055D359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Требования к отчетности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FE4FB-5652-C4C5-0123-3DBB6DDDE867}"/>
              </a:ext>
            </a:extLst>
          </p:cNvPr>
          <p:cNvSpPr txBox="1"/>
          <p:nvPr/>
        </p:nvSpPr>
        <p:spPr>
          <a:xfrm>
            <a:off x="894848" y="968223"/>
            <a:ext cx="6097002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Отчёт по лабораторной работе должен содержать: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Титульный лист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(ФИО, группа, номер работы).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SQL-скрипты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создания БД и наполнения таблиц.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Для каждой задачи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формулировку, SQL-запрос и результат его выполнения (таблица или вывод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Комментарии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к сложным запросам - объясните, почему выбрали такой подход.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021E7-C9E7-BCEC-7918-D2B0BDFA2AD8}"/>
              </a:ext>
            </a:extLst>
          </p:cNvPr>
          <p:cNvSpPr txBox="1"/>
          <p:nvPr/>
        </p:nvSpPr>
        <p:spPr>
          <a:xfrm>
            <a:off x="894848" y="5025007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Формат сдачи: файл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со всеми запросами и файл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pdf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(или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docx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 с отчётом.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9988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413C-A189-9910-ACD6-632268C2F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1F83-0279-8A99-7A7C-64B99FBD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Блок 1: Соединения (</a:t>
            </a:r>
            <a:r>
              <a:rPr lang="en-US" dirty="0"/>
              <a:t>JOIN)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DB1A3-3E90-D05F-E3DC-539E7D7B2325}"/>
              </a:ext>
            </a:extLst>
          </p:cNvPr>
          <p:cNvSpPr txBox="1"/>
          <p:nvPr/>
        </p:nvSpPr>
        <p:spPr>
          <a:xfrm>
            <a:off x="469231" y="1322844"/>
            <a:ext cx="107622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1.1. Вывести список курсов с именами преподавателей, которые их ведут.</a:t>
            </a:r>
          </a:p>
          <a:p>
            <a:r>
              <a:rPr lang="ru-RU" sz="1400" dirty="0"/>
              <a:t>1.2. Вывести список всех студентов с названиями курсов, на которые они записаны.</a:t>
            </a:r>
          </a:p>
          <a:p>
            <a:r>
              <a:rPr lang="ru-RU" sz="1400" dirty="0"/>
              <a:t>1.3. Вывести для каждого студента его оценки с названиями курсов.</a:t>
            </a:r>
          </a:p>
          <a:p>
            <a:r>
              <a:rPr lang="ru-RU" sz="1400" dirty="0"/>
              <a:t>1.4. Вывести студентов, которые записаны на курс «Базы данных».</a:t>
            </a:r>
          </a:p>
          <a:p>
            <a:r>
              <a:rPr lang="ru-RU" sz="1400" dirty="0"/>
              <a:t>1.5. Найти всех студентов, у которых </a:t>
            </a:r>
            <a:r>
              <a:rPr lang="ru-RU" sz="1400" b="1" dirty="0"/>
              <a:t>нет</a:t>
            </a:r>
            <a:r>
              <a:rPr lang="ru-RU" sz="1400" dirty="0"/>
              <a:t> ни одной записи на курс (используйте LEFT JOIN ... WHERE ... IS NULL).</a:t>
            </a:r>
          </a:p>
          <a:p>
            <a:r>
              <a:rPr lang="ru-RU" sz="1400" dirty="0"/>
              <a:t>1.6. Найти курсы, на которые </a:t>
            </a:r>
            <a:r>
              <a:rPr lang="ru-RU" sz="1400" b="1" dirty="0"/>
              <a:t>никто</a:t>
            </a:r>
            <a:r>
              <a:rPr lang="ru-RU" sz="1400" dirty="0"/>
              <a:t> не записан.</a:t>
            </a:r>
          </a:p>
          <a:p>
            <a:r>
              <a:rPr lang="ru-RU" sz="1400" dirty="0"/>
              <a:t>1.7. Вывести для каждого преподавателя список названий его курсов (только для тех, у кого есть курсы).</a:t>
            </a:r>
          </a:p>
          <a:p>
            <a:r>
              <a:rPr lang="ru-RU" sz="1400" dirty="0"/>
              <a:t>1.8. Вывести полный список студентов и их оценки по курсу «Основы программирования» (включая тех, у кого нет оценки — они должны быть с NULL).</a:t>
            </a:r>
          </a:p>
          <a:p>
            <a:r>
              <a:rPr lang="ru-RU" sz="1400" dirty="0"/>
              <a:t>1.9. Вывести список городов и имена студентов, обучающихся на курсе «Машинное обучение».</a:t>
            </a:r>
          </a:p>
          <a:p>
            <a:r>
              <a:rPr lang="ru-RU" sz="1400" dirty="0"/>
              <a:t>1.10. Найти всех студентов, которые записаны и на «Основы программирования», и на «Веб-разработка».</a:t>
            </a:r>
          </a:p>
          <a:p>
            <a:r>
              <a:rPr lang="ru-RU" sz="1400" dirty="0"/>
              <a:t>1.11. Вывести средний балл по курсу для каждого преподавателя (соедините </a:t>
            </a:r>
            <a:r>
              <a:rPr lang="ru-RU" sz="1400" dirty="0" err="1"/>
              <a:t>teachers</a:t>
            </a:r>
            <a:r>
              <a:rPr lang="ru-RU" sz="1400" dirty="0"/>
              <a:t> → </a:t>
            </a:r>
            <a:r>
              <a:rPr lang="ru-RU" sz="1400" dirty="0" err="1"/>
              <a:t>courses</a:t>
            </a:r>
            <a:r>
              <a:rPr lang="ru-RU" sz="1400" dirty="0"/>
              <a:t> → </a:t>
            </a:r>
            <a:r>
              <a:rPr lang="ru-RU" sz="1400" dirty="0" err="1"/>
              <a:t>enrollments</a:t>
            </a:r>
            <a:r>
              <a:rPr lang="ru-RU" sz="1400" dirty="0"/>
              <a:t> → </a:t>
            </a:r>
            <a:r>
              <a:rPr lang="ru-RU" sz="1400" dirty="0" err="1"/>
              <a:t>grades</a:t>
            </a:r>
            <a:r>
              <a:rPr lang="ru-RU" sz="1400" dirty="0"/>
              <a:t>).</a:t>
            </a:r>
          </a:p>
          <a:p>
            <a:r>
              <a:rPr lang="ru-RU" sz="1400" dirty="0"/>
              <a:t>1.12. Найти студентов, у которых есть хотя бы одна оценка «5», с указанием названия курса и оценкой.</a:t>
            </a:r>
          </a:p>
          <a:p>
            <a:r>
              <a:rPr lang="ru-RU" sz="1400" dirty="0"/>
              <a:t>1.13. Вывести список курсов с указанием количества записавшихся, включая курсы с нулём записей.</a:t>
            </a:r>
          </a:p>
          <a:p>
            <a:r>
              <a:rPr lang="ru-RU" sz="1400" dirty="0"/>
              <a:t>1.14. Для каждого студента вывести его город и название курса, на который он записан; отсортировать по городу и имени студента.</a:t>
            </a:r>
          </a:p>
          <a:p>
            <a:r>
              <a:rPr lang="ru-RU" sz="1400" dirty="0"/>
              <a:t>1.15. Вывести всех преподавателей департамента «Информатика» и названия их курсов, включая тех, кто курсов ещё не ведёт.</a:t>
            </a:r>
          </a:p>
        </p:txBody>
      </p:sp>
    </p:spTree>
    <p:extLst>
      <p:ext uri="{BB962C8B-B14F-4D97-AF65-F5344CB8AC3E}">
        <p14:creationId xmlns:p14="http://schemas.microsoft.com/office/powerpoint/2010/main" val="1988162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A8DF-B151-063B-9480-39822865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6393-E44B-0981-7667-408D7E83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Блок </a:t>
            </a:r>
            <a:r>
              <a:rPr lang="en-US" dirty="0"/>
              <a:t>2</a:t>
            </a:r>
            <a:r>
              <a:rPr lang="ru-RU" dirty="0"/>
              <a:t>: подзапросы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B57ED-6662-3E84-A4E8-490D56DBC777}"/>
              </a:ext>
            </a:extLst>
          </p:cNvPr>
          <p:cNvSpPr txBox="1"/>
          <p:nvPr/>
        </p:nvSpPr>
        <p:spPr>
          <a:xfrm>
            <a:off x="709863" y="751344"/>
            <a:ext cx="853640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2.1. Найти студентов, чей возраст выше среднего возраста всех студентов.</a:t>
            </a:r>
          </a:p>
          <a:p>
            <a:r>
              <a:rPr lang="ru-RU" dirty="0"/>
              <a:t>2.2. Найти преподавателей, чья зарплата выше средней по университету.</a:t>
            </a:r>
          </a:p>
          <a:p>
            <a:r>
              <a:rPr lang="ru-RU" dirty="0"/>
              <a:t>2.3. Найти курсы, на которые записано больше студентов, чем в среднем по всем курсам.</a:t>
            </a:r>
          </a:p>
          <a:p>
            <a:r>
              <a:rPr lang="ru-RU" dirty="0"/>
              <a:t>2.4. Вывести студентов, у которых средний балл выше среднего балла по университету.</a:t>
            </a:r>
          </a:p>
          <a:p>
            <a:r>
              <a:rPr lang="ru-RU" dirty="0"/>
              <a:t>2.5. Найти студента (или студентов) с максимальным средним баллом.</a:t>
            </a:r>
          </a:p>
          <a:p>
            <a:r>
              <a:rPr lang="ru-RU" dirty="0"/>
              <a:t>2.6. Вывести названия курсов, которые ведёт преподаватель с самой высокой зарплатой.</a:t>
            </a:r>
          </a:p>
          <a:p>
            <a:r>
              <a:rPr lang="ru-RU" dirty="0"/>
              <a:t>2.7. Найти студентов, записанных хотя бы на один курс, который ведёт преподаватель из департамента «Информатика» (используйте IN или EXISTS).</a:t>
            </a:r>
          </a:p>
          <a:p>
            <a:r>
              <a:rPr lang="ru-RU" dirty="0"/>
              <a:t>2.8. Найти студентов, которые </a:t>
            </a:r>
            <a:r>
              <a:rPr lang="ru-RU" b="1" dirty="0"/>
              <a:t>не записаны</a:t>
            </a:r>
            <a:r>
              <a:rPr lang="ru-RU" dirty="0"/>
              <a:t> ни на один факультатив (используйте NOT IN или NOT EXISTS).</a:t>
            </a:r>
          </a:p>
          <a:p>
            <a:r>
              <a:rPr lang="ru-RU" dirty="0"/>
              <a:t>2.9. Вывести курсы, средний балл по которым выше среднего балла по всем курсам.</a:t>
            </a:r>
          </a:p>
          <a:p>
            <a:r>
              <a:rPr lang="ru-RU" dirty="0">
                <a:solidFill>
                  <a:srgbClr val="FF0000"/>
                </a:solidFill>
              </a:rPr>
              <a:t>2.10. Для каждого города вывести количество студентов и название самого популярного курса среди студентов этого города (задача повышенной сложности — можно решить через подзапрос или CTE).</a:t>
            </a:r>
          </a:p>
        </p:txBody>
      </p:sp>
    </p:spTree>
    <p:extLst>
      <p:ext uri="{BB962C8B-B14F-4D97-AF65-F5344CB8AC3E}">
        <p14:creationId xmlns:p14="http://schemas.microsoft.com/office/powerpoint/2010/main" val="781321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E0F8-2A68-0ABD-9D5B-3865B960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1F0-568E-E629-BEFB-541A9C72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Блок 3: Изменение данных (INSERT / UPDATE / DELETE)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EB419-0473-0C31-4F03-C4DE4B151B56}"/>
              </a:ext>
            </a:extLst>
          </p:cNvPr>
          <p:cNvSpPr txBox="1"/>
          <p:nvPr/>
        </p:nvSpPr>
        <p:spPr>
          <a:xfrm>
            <a:off x="709863" y="1028071"/>
            <a:ext cx="85364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3.1. Добавить нового студента: «Павел Егоров», родился 15 марта 2004 года, из Самары, </a:t>
            </a:r>
            <a:r>
              <a:rPr lang="ru-RU" dirty="0" err="1"/>
              <a:t>email</a:t>
            </a:r>
            <a:r>
              <a:rPr lang="ru-RU" dirty="0"/>
              <a:t> pavel.egorov@example.com, зачислен сегодня, активен.</a:t>
            </a:r>
          </a:p>
          <a:p>
            <a:r>
              <a:rPr lang="ru-RU" dirty="0"/>
              <a:t>3.2. Добавить нового преподавателя: «Григорьев Олег Иванович», департамент «Математика», принят сегодня, зарплата 90000.</a:t>
            </a:r>
          </a:p>
          <a:p>
            <a:r>
              <a:rPr lang="ru-RU" dirty="0"/>
              <a:t>3.3. Записать студента «Анна Соколова» на курс «Машинное обучение».</a:t>
            </a:r>
          </a:p>
          <a:p>
            <a:r>
              <a:rPr lang="ru-RU" dirty="0"/>
              <a:t>3.4. Поставить оценку «5» за этот курс с комментарием «Отличный старт».</a:t>
            </a:r>
          </a:p>
          <a:p>
            <a:r>
              <a:rPr lang="ru-RU" dirty="0"/>
              <a:t>3.5. Повысить зарплату всем преподавателям департамента «Физика» на 10%.</a:t>
            </a:r>
          </a:p>
          <a:p>
            <a:r>
              <a:rPr lang="ru-RU" dirty="0"/>
              <a:t>3.6. Перевести всех неактивных студентов из Казани в статус активных.</a:t>
            </a:r>
          </a:p>
          <a:p>
            <a:r>
              <a:rPr lang="ru-RU" dirty="0"/>
              <a:t>3.7. Удалить все оценки «2» (если такие есть).</a:t>
            </a:r>
          </a:p>
          <a:p>
            <a:r>
              <a:rPr lang="ru-RU" dirty="0"/>
              <a:t>3.8. Удалить студента «Сергей Павлов» (убедитесь, что </a:t>
            </a:r>
            <a:r>
              <a:rPr lang="ru-RU" dirty="0" err="1"/>
              <a:t>каскадно</a:t>
            </a:r>
            <a:r>
              <a:rPr lang="ru-RU" dirty="0"/>
              <a:t> удалятся его записи и оценки).</a:t>
            </a:r>
          </a:p>
          <a:p>
            <a:r>
              <a:rPr lang="ru-RU" dirty="0"/>
              <a:t>3.9. Изменить название курса «Веб-разработка» на «Современная веб-разработка».</a:t>
            </a:r>
          </a:p>
          <a:p>
            <a:r>
              <a:rPr lang="ru-RU" dirty="0"/>
              <a:t>3.10. С помощью INSERT ... RETURNING добавить нового студента и сразу вывести его </a:t>
            </a:r>
            <a:r>
              <a:rPr lang="ru-RU" dirty="0" err="1"/>
              <a:t>id</a:t>
            </a:r>
            <a:r>
              <a:rPr lang="ru-RU" dirty="0"/>
              <a:t> и имя.</a:t>
            </a:r>
          </a:p>
        </p:txBody>
      </p:sp>
    </p:spTree>
    <p:extLst>
      <p:ext uri="{BB962C8B-B14F-4D97-AF65-F5344CB8AC3E}">
        <p14:creationId xmlns:p14="http://schemas.microsoft.com/office/powerpoint/2010/main" val="781038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425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41">
      <a:dk1>
        <a:srgbClr val="000000"/>
      </a:dk1>
      <a:lt1>
        <a:srgbClr val="FFFFFF"/>
      </a:lt1>
      <a:dk2>
        <a:srgbClr val="F1F2F1"/>
      </a:dk2>
      <a:lt2>
        <a:srgbClr val="5E5C5C"/>
      </a:lt2>
      <a:accent1>
        <a:srgbClr val="EB8B2D"/>
      </a:accent1>
      <a:accent2>
        <a:srgbClr val="CD441F"/>
      </a:accent2>
      <a:accent3>
        <a:srgbClr val="88192B"/>
      </a:accent3>
      <a:accent4>
        <a:srgbClr val="FEDE5D"/>
      </a:accent4>
      <a:accent5>
        <a:srgbClr val="4DA958"/>
      </a:accent5>
      <a:accent6>
        <a:srgbClr val="B5DCA4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90000" rIns="46800" bIns="46800" rtlCol="0" anchor="t"/>
      <a:lstStyle>
        <a:defPPr algn="l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 anchor="t">
        <a:spAutoFit/>
      </a:bodyPr>
      <a:lstStyle>
        <a:defPPr algn="l">
          <a:defRPr sz="120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17138</TotalTime>
  <Words>4407</Words>
  <Application>Microsoft Office PowerPoint</Application>
  <PresentationFormat>Широкоэкранный</PresentationFormat>
  <Paragraphs>365</Paragraphs>
  <Slides>30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Calibri</vt:lpstr>
      <vt:lpstr>Menlo</vt:lpstr>
      <vt:lpstr>quote-cjk-patch</vt:lpstr>
      <vt:lpstr>Тема Office</vt:lpstr>
      <vt:lpstr>Слайд think-cell</vt:lpstr>
      <vt:lpstr>Ключи. Виды связей </vt:lpstr>
      <vt:lpstr>Введение: вспоминаем реляционную модель</vt:lpstr>
      <vt:lpstr>Первичный ключ (primary key)</vt:lpstr>
      <vt:lpstr>Составной первичный ключ (primary key)</vt:lpstr>
      <vt:lpstr>Проверка поведения первичного ключа (primary key)</vt:lpstr>
      <vt:lpstr>Потенциальный и уникальный ключ (Unique)</vt:lpstr>
      <vt:lpstr>Потенциальный и уникальный ключ (Unique)</vt:lpstr>
      <vt:lpstr>Составной уникальный ключ (Unique)</vt:lpstr>
      <vt:lpstr>Внешний ключ (foreign key)</vt:lpstr>
      <vt:lpstr>Составной внешний ключ (foreign key)</vt:lpstr>
      <vt:lpstr>Суррогатный vs Естественный ключ</vt:lpstr>
      <vt:lpstr>Целостность данных и роль ключей</vt:lpstr>
      <vt:lpstr>Стратегии ссылочных действий (самостоятельно)</vt:lpstr>
      <vt:lpstr>Виды связей между таблицами</vt:lpstr>
      <vt:lpstr>Связь «Один к одному» (1:1)</vt:lpstr>
      <vt:lpstr>Связь «Один к одному» (1:1)</vt:lpstr>
      <vt:lpstr>Связь «Один ко многим» (1:М)</vt:lpstr>
      <vt:lpstr>Связь «Один ко многим» (1:М)</vt:lpstr>
      <vt:lpstr>Связь «Один ко многим» (1:М)</vt:lpstr>
      <vt:lpstr>Связь «Многие ко многим» (М:N)</vt:lpstr>
      <vt:lpstr>Связь «Многие ко многим» (М:N)</vt:lpstr>
      <vt:lpstr>Связь «Многие ко многим» (М:N)</vt:lpstr>
      <vt:lpstr>Итого: сравнение трех видов связей</vt:lpstr>
      <vt:lpstr>Материал к лабораторной работе №2 </vt:lpstr>
      <vt:lpstr>Материал к лабораторной работе №2</vt:lpstr>
      <vt:lpstr>Материал к лабораторной работе №2</vt:lpstr>
      <vt:lpstr>Требования к отчетности</vt:lpstr>
      <vt:lpstr>Блок 1: Соединения (JOIN)</vt:lpstr>
      <vt:lpstr>Блок 2: подзапросы</vt:lpstr>
      <vt:lpstr>Блок 3: Изменение данных (INSERT / UPDATE / DELETE)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m9990007889@gmail.com</dc:creator>
  <cp:lastModifiedBy>Vitaliy Vyacheslavovich</cp:lastModifiedBy>
  <cp:revision>1196</cp:revision>
  <cp:lastPrinted>2023-10-27T04:49:26Z</cp:lastPrinted>
  <dcterms:created xsi:type="dcterms:W3CDTF">2021-03-31T07:59:31Z</dcterms:created>
  <dcterms:modified xsi:type="dcterms:W3CDTF">2026-10-19T14:58:34Z</dcterms:modified>
</cp:coreProperties>
</file>